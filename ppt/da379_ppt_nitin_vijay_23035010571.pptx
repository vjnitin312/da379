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952A"/>
    <a:srgbClr val="6D28D9"/>
    <a:srgbClr val="64748B"/>
    <a:srgbClr val="648877"/>
    <a:srgbClr val="B91C1C"/>
    <a:srgbClr val="E05A2B"/>
    <a:srgbClr val="0A2240"/>
    <a:srgbClr val="0D94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2" autoAdjust="0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1511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youtu.be/y57es9DNrsM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5295"/>
            <a:ext cx="12191695" cy="152705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46304"/>
            <a:ext cx="3413455" cy="655899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15614" y="146304"/>
            <a:ext cx="8876081" cy="6558991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662" y="292608"/>
            <a:ext cx="2879446" cy="28895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" y="3413455"/>
            <a:ext cx="3047695" cy="97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A2240"/>
                </a:solidFill>
              </a:rPr>
              <a:t>Indian Institute of Technology Guwahati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370332" y="4526280"/>
            <a:ext cx="2663647" cy="48463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87452" y="4630623"/>
            <a:ext cx="30476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BSc. (Hons.) Data Science &amp; Artificial Intelligence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Online Degree Programme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655771" y="427025"/>
            <a:ext cx="3047695" cy="463601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93846" y="427025"/>
            <a:ext cx="2770632" cy="463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2240"/>
                </a:solidFill>
              </a:rPr>
              <a:t>TERM PROJECT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3588106" y="855370"/>
            <a:ext cx="842893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AirWatch India: AQI Inspection and Prediction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3609898" y="2624412"/>
            <a:ext cx="8287512" cy="61043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C045A1E-609E-FC2A-5E44-9C1704653AA1}"/>
              </a:ext>
            </a:extLst>
          </p:cNvPr>
          <p:cNvGrpSpPr/>
          <p:nvPr/>
        </p:nvGrpSpPr>
        <p:grpSpPr>
          <a:xfrm>
            <a:off x="3640513" y="2247188"/>
            <a:ext cx="8226281" cy="4766870"/>
            <a:chOff x="3561061" y="2477210"/>
            <a:chExt cx="8226281" cy="4766870"/>
          </a:xfrm>
        </p:grpSpPr>
        <p:sp>
          <p:nvSpPr>
            <p:cNvPr id="14" name="Text 11"/>
            <p:cNvSpPr/>
            <p:nvPr/>
          </p:nvSpPr>
          <p:spPr>
            <a:xfrm>
              <a:off x="3561061" y="2477210"/>
              <a:ext cx="2349968" cy="19189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B8952A"/>
                  </a:solidFill>
                </a:rPr>
                <a:t>Student Name :</a:t>
              </a:r>
              <a:endParaRPr lang="en-US" sz="2000" dirty="0"/>
            </a:p>
          </p:txBody>
        </p:sp>
        <p:sp>
          <p:nvSpPr>
            <p:cNvPr id="15" name="Text 12"/>
            <p:cNvSpPr/>
            <p:nvPr/>
          </p:nvSpPr>
          <p:spPr>
            <a:xfrm>
              <a:off x="5973188" y="2477210"/>
              <a:ext cx="5814154" cy="19189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FFFFFF"/>
                  </a:solidFill>
                </a:rPr>
                <a:t>Nitin Vijay N</a:t>
              </a:r>
              <a:endParaRPr lang="en-US" sz="2000" dirty="0"/>
            </a:p>
          </p:txBody>
        </p:sp>
        <p:sp>
          <p:nvSpPr>
            <p:cNvPr id="16" name="Text 13"/>
            <p:cNvSpPr/>
            <p:nvPr/>
          </p:nvSpPr>
          <p:spPr>
            <a:xfrm>
              <a:off x="3561061" y="2952232"/>
              <a:ext cx="2349968" cy="19189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B8952A"/>
                  </a:solidFill>
                </a:rPr>
                <a:t>Student ID :</a:t>
              </a:r>
              <a:endParaRPr lang="en-US" sz="2000" dirty="0"/>
            </a:p>
          </p:txBody>
        </p:sp>
        <p:sp>
          <p:nvSpPr>
            <p:cNvPr id="17" name="Text 14"/>
            <p:cNvSpPr/>
            <p:nvPr/>
          </p:nvSpPr>
          <p:spPr>
            <a:xfrm>
              <a:off x="5973188" y="2952232"/>
              <a:ext cx="5814154" cy="19189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FFFFFF"/>
                  </a:solidFill>
                </a:rPr>
                <a:t>23035010571</a:t>
              </a:r>
              <a:endParaRPr lang="en-US" sz="2000" dirty="0"/>
            </a:p>
          </p:txBody>
        </p:sp>
        <p:sp>
          <p:nvSpPr>
            <p:cNvPr id="18" name="Text 15"/>
            <p:cNvSpPr/>
            <p:nvPr/>
          </p:nvSpPr>
          <p:spPr>
            <a:xfrm>
              <a:off x="3561061" y="3426145"/>
              <a:ext cx="2349968" cy="19189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B8952A"/>
                  </a:solidFill>
                </a:rPr>
                <a:t>Email ID :</a:t>
              </a:r>
              <a:endParaRPr lang="en-US" sz="2000" dirty="0"/>
            </a:p>
          </p:txBody>
        </p:sp>
        <p:sp>
          <p:nvSpPr>
            <p:cNvPr id="19" name="Text 16"/>
            <p:cNvSpPr/>
            <p:nvPr/>
          </p:nvSpPr>
          <p:spPr>
            <a:xfrm>
              <a:off x="5973188" y="3426145"/>
              <a:ext cx="5814154" cy="19189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FFFFFF"/>
                  </a:solidFill>
                </a:rPr>
                <a:t>n.nitin@op.iitg.ac.in</a:t>
              </a:r>
              <a:endParaRPr lang="en-US" sz="2000" dirty="0"/>
            </a:p>
          </p:txBody>
        </p:sp>
        <p:sp>
          <p:nvSpPr>
            <p:cNvPr id="20" name="Text 17"/>
            <p:cNvSpPr/>
            <p:nvPr/>
          </p:nvSpPr>
          <p:spPr>
            <a:xfrm>
              <a:off x="3561061" y="3901166"/>
              <a:ext cx="2349968" cy="19189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B8952A"/>
                  </a:solidFill>
                </a:rPr>
                <a:t>Programme :</a:t>
              </a:r>
              <a:endParaRPr lang="en-US" sz="2000" dirty="0"/>
            </a:p>
          </p:txBody>
        </p:sp>
        <p:sp>
          <p:nvSpPr>
            <p:cNvPr id="21" name="Text 18"/>
            <p:cNvSpPr/>
            <p:nvPr/>
          </p:nvSpPr>
          <p:spPr>
            <a:xfrm>
              <a:off x="5973188" y="3901166"/>
              <a:ext cx="5814154" cy="19189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FFFFFF"/>
                  </a:solidFill>
                </a:rPr>
                <a:t>BSc. (Hons.) Data Science &amp; AI</a:t>
              </a:r>
              <a:endParaRPr lang="en-US" sz="2000" dirty="0"/>
            </a:p>
          </p:txBody>
        </p:sp>
        <p:sp>
          <p:nvSpPr>
            <p:cNvPr id="22" name="Text 19"/>
            <p:cNvSpPr/>
            <p:nvPr/>
          </p:nvSpPr>
          <p:spPr>
            <a:xfrm>
              <a:off x="3561061" y="4375079"/>
              <a:ext cx="2349968" cy="19189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B8952A"/>
                  </a:solidFill>
                </a:rPr>
                <a:t>Course Code :</a:t>
              </a:r>
              <a:endParaRPr lang="en-US" sz="2000" dirty="0"/>
            </a:p>
          </p:txBody>
        </p:sp>
        <p:sp>
          <p:nvSpPr>
            <p:cNvPr id="23" name="Text 20"/>
            <p:cNvSpPr/>
            <p:nvPr/>
          </p:nvSpPr>
          <p:spPr>
            <a:xfrm>
              <a:off x="5973188" y="4375079"/>
              <a:ext cx="5814154" cy="19189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FFFFFF"/>
                  </a:solidFill>
                </a:rPr>
                <a:t>DA379</a:t>
              </a:r>
              <a:endParaRPr lang="en-US" sz="2000" dirty="0"/>
            </a:p>
          </p:txBody>
        </p:sp>
        <p:sp>
          <p:nvSpPr>
            <p:cNvPr id="24" name="Text 21"/>
            <p:cNvSpPr/>
            <p:nvPr/>
          </p:nvSpPr>
          <p:spPr>
            <a:xfrm>
              <a:off x="3561061" y="4850101"/>
              <a:ext cx="2349968" cy="19189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B8952A"/>
                  </a:solidFill>
                </a:rPr>
                <a:t>Course Name :</a:t>
              </a:r>
              <a:endParaRPr lang="en-US" sz="2000" dirty="0"/>
            </a:p>
          </p:txBody>
        </p:sp>
        <p:sp>
          <p:nvSpPr>
            <p:cNvPr id="25" name="Text 22"/>
            <p:cNvSpPr/>
            <p:nvPr/>
          </p:nvSpPr>
          <p:spPr>
            <a:xfrm>
              <a:off x="5973188" y="4850101"/>
              <a:ext cx="5814154" cy="19189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FFFFFF"/>
                  </a:solidFill>
                </a:rPr>
                <a:t>Term Project - I</a:t>
              </a:r>
              <a:endParaRPr lang="en-US" sz="2000" dirty="0"/>
            </a:p>
          </p:txBody>
        </p:sp>
        <p:sp>
          <p:nvSpPr>
            <p:cNvPr id="26" name="Text 23"/>
            <p:cNvSpPr/>
            <p:nvPr/>
          </p:nvSpPr>
          <p:spPr>
            <a:xfrm>
              <a:off x="3561061" y="5325124"/>
              <a:ext cx="2349968" cy="19189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B8952A"/>
                  </a:solidFill>
                </a:rPr>
                <a:t>Trimester :</a:t>
              </a:r>
              <a:endParaRPr lang="en-US" sz="2000" dirty="0"/>
            </a:p>
          </p:txBody>
        </p:sp>
        <p:sp>
          <p:nvSpPr>
            <p:cNvPr id="27" name="Text 24"/>
            <p:cNvSpPr/>
            <p:nvPr/>
          </p:nvSpPr>
          <p:spPr>
            <a:xfrm>
              <a:off x="5973188" y="5325124"/>
              <a:ext cx="5814154" cy="19189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FFFFFF"/>
                  </a:solidFill>
                </a:rPr>
                <a:t>IX</a:t>
              </a:r>
              <a:endParaRPr lang="en-US" sz="2000" dirty="0"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D9F3FE1F-CEBD-B3C6-3BE8-46CF2BB33619}"/>
              </a:ext>
            </a:extLst>
          </p:cNvPr>
          <p:cNvSpPr txBox="1"/>
          <p:nvPr/>
        </p:nvSpPr>
        <p:spPr>
          <a:xfrm>
            <a:off x="128337" y="5095102"/>
            <a:ext cx="3187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Youtube Link:</a:t>
            </a:r>
          </a:p>
          <a:p>
            <a:r>
              <a:rPr lang="en-IN" dirty="0">
                <a:hlinkClick r:id="rId4"/>
              </a:rPr>
              <a:t>https://youtu.be/y57es9DNrsM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961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Problem Statement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921240" y="219456"/>
            <a:ext cx="2057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240"/>
                </a:solidFill>
              </a:rPr>
              <a:t>0:30 – 1:30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240"/>
                </a:solidFill>
              </a:rPr>
              <a:t>What problem did we solve?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89560" y="1572768"/>
            <a:ext cx="3689908" cy="2781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89560" y="1572767"/>
            <a:ext cx="3689908" cy="72121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3671" y="1664208"/>
            <a:ext cx="3494837" cy="494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240"/>
                </a:solidFill>
              </a:rPr>
              <a:t>No integrated platform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13511" y="2148840"/>
            <a:ext cx="3494837" cy="2009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334155"/>
                </a:solidFill>
              </a:rPr>
              <a:t>Government portals publish raw CPCB pollutant CSVs with no cleaning, no forecasting, and no unified inspection tool for the public or researchers.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160520" y="1572768"/>
            <a:ext cx="3689908" cy="278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60520" y="1572767"/>
            <a:ext cx="3689908" cy="73570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84471" y="1664208"/>
            <a:ext cx="3494837" cy="494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0A2240"/>
                </a:solidFill>
              </a:rPr>
              <a:t>Substantial missing data</a:t>
            </a:r>
          </a:p>
        </p:txBody>
      </p:sp>
      <p:sp>
        <p:nvSpPr>
          <p:cNvPr id="16" name="Text 14"/>
          <p:cNvSpPr/>
          <p:nvPr/>
        </p:nvSpPr>
        <p:spPr>
          <a:xfrm>
            <a:off x="4274311" y="2148840"/>
            <a:ext cx="3494837" cy="2009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1600" dirty="0">
                <a:solidFill>
                  <a:srgbClr val="334155"/>
                </a:solidFill>
              </a:rPr>
              <a:t>15.9% of AQI values were missing in the raw CPCB dataset, and existing tools simply drop those rows rather than recovering them.</a:t>
            </a:r>
          </a:p>
        </p:txBody>
      </p:sp>
      <p:sp>
        <p:nvSpPr>
          <p:cNvPr id="17" name="Shape 15"/>
          <p:cNvSpPr/>
          <p:nvPr/>
        </p:nvSpPr>
        <p:spPr>
          <a:xfrm>
            <a:off x="8031480" y="1572768"/>
            <a:ext cx="3690000" cy="2781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31480" y="1572767"/>
            <a:ext cx="3690000" cy="72121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5111" y="1664208"/>
            <a:ext cx="3494837" cy="494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0A2240"/>
                </a:solidFill>
              </a:rPr>
              <a:t>No forecasting layer</a:t>
            </a:r>
          </a:p>
        </p:txBody>
      </p:sp>
      <p:sp>
        <p:nvSpPr>
          <p:cNvPr id="20" name="Text 18"/>
          <p:cNvSpPr/>
          <p:nvPr/>
        </p:nvSpPr>
        <p:spPr>
          <a:xfrm>
            <a:off x="8135111" y="2148840"/>
            <a:ext cx="3494837" cy="2009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1600" dirty="0">
                <a:solidFill>
                  <a:srgbClr val="334155"/>
                </a:solidFill>
              </a:rPr>
              <a:t>No open-source India platform combined historical AQI inspection with machine-learning prediction and short-term forecasting in one place.</a:t>
            </a:r>
          </a:p>
        </p:txBody>
      </p:sp>
      <p:sp>
        <p:nvSpPr>
          <p:cNvPr id="21" name="Shape 19"/>
          <p:cNvSpPr/>
          <p:nvPr/>
        </p:nvSpPr>
        <p:spPr>
          <a:xfrm>
            <a:off x="320040" y="4574032"/>
            <a:ext cx="11521440" cy="1856232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638040"/>
            <a:ext cx="3200400" cy="414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8952A"/>
                </a:solidFill>
              </a:rPr>
              <a:t>Why it matters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02920" y="5012943"/>
            <a:ext cx="11064240" cy="12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</a:rPr>
              <a:t>Air pollution is a leading health risk in India, with several cities regularly exceeding WHO guideline limits. A reproducible, open-source platform that cleans, analyses, predicts, and visualizes AQI data is both scientifically valuable and practically impactful for citizens, public health officials, and researchers.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961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FFFFF"/>
                </a:solidFill>
              </a:rPr>
              <a:t>Tools &amp; Dataset</a:t>
            </a:r>
          </a:p>
        </p:txBody>
      </p:sp>
      <p:sp>
        <p:nvSpPr>
          <p:cNvPr id="6" name="Text 4"/>
          <p:cNvSpPr/>
          <p:nvPr/>
        </p:nvSpPr>
        <p:spPr>
          <a:xfrm>
            <a:off x="9921240" y="219456"/>
            <a:ext cx="2057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240"/>
                </a:solidFill>
              </a:rPr>
              <a:t>1:30 – 2:30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2412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240"/>
                </a:solidFill>
              </a:rPr>
              <a:t>Tech Stack</a:t>
            </a:r>
            <a:endParaRPr lang="en-US" sz="2000" dirty="0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231C4C14-7549-3A02-E760-9291FA490F47}"/>
              </a:ext>
            </a:extLst>
          </p:cNvPr>
          <p:cNvGrpSpPr/>
          <p:nvPr/>
        </p:nvGrpSpPr>
        <p:grpSpPr>
          <a:xfrm>
            <a:off x="320039" y="1481328"/>
            <a:ext cx="5623548" cy="5202936"/>
            <a:chOff x="320040" y="1481328"/>
            <a:chExt cx="5532120" cy="3108960"/>
          </a:xfrm>
        </p:grpSpPr>
        <p:sp>
          <p:nvSpPr>
            <p:cNvPr id="9" name="Shape 7"/>
            <p:cNvSpPr/>
            <p:nvPr/>
          </p:nvSpPr>
          <p:spPr>
            <a:xfrm>
              <a:off x="320040" y="1481328"/>
              <a:ext cx="2697480" cy="69494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10" name="Shape 8"/>
            <p:cNvSpPr/>
            <p:nvPr/>
          </p:nvSpPr>
          <p:spPr>
            <a:xfrm>
              <a:off x="320040" y="1481328"/>
              <a:ext cx="91440" cy="694944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484632" y="1527048"/>
              <a:ext cx="2468880" cy="3017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D9488"/>
                  </a:solidFill>
                </a:rPr>
                <a:t>Python 3.12</a:t>
              </a:r>
              <a:endParaRPr lang="en-US" sz="1600" dirty="0">
                <a:solidFill>
                  <a:srgbClr val="0D9488"/>
                </a:solidFill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484632" y="1847088"/>
              <a:ext cx="24688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64748B"/>
                  </a:solidFill>
                </a:rPr>
                <a:t>Core language for all phases</a:t>
              </a:r>
              <a:endParaRPr lang="en-US" sz="14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3154680" y="1481328"/>
              <a:ext cx="2697480" cy="69494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14" name="Shape 12"/>
            <p:cNvSpPr/>
            <p:nvPr/>
          </p:nvSpPr>
          <p:spPr>
            <a:xfrm>
              <a:off x="3154680" y="1481328"/>
              <a:ext cx="91440" cy="694944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3319272" y="1527048"/>
              <a:ext cx="2468880" cy="3017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0D9488"/>
                  </a:solidFill>
                </a:rPr>
                <a:t>pandas + numpy</a:t>
              </a:r>
            </a:p>
          </p:txBody>
        </p:sp>
        <p:sp>
          <p:nvSpPr>
            <p:cNvPr id="16" name="Text 14"/>
            <p:cNvSpPr/>
            <p:nvPr/>
          </p:nvSpPr>
          <p:spPr>
            <a:xfrm>
              <a:off x="3319272" y="1847088"/>
              <a:ext cx="24688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64748B"/>
                  </a:solidFill>
                </a:rPr>
                <a:t>Data cleaning &amp; feature engineering</a:t>
              </a:r>
              <a:endParaRPr lang="en-US" sz="14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320040" y="2286000"/>
              <a:ext cx="2697480" cy="69494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18" name="Shape 16"/>
            <p:cNvSpPr/>
            <p:nvPr/>
          </p:nvSpPr>
          <p:spPr>
            <a:xfrm>
              <a:off x="320040" y="2286000"/>
              <a:ext cx="91440" cy="694944"/>
            </a:xfrm>
            <a:prstGeom prst="rect">
              <a:avLst/>
            </a:prstGeom>
            <a:solidFill>
              <a:srgbClr val="0A2240"/>
            </a:solidFill>
            <a:ln w="12700">
              <a:solidFill>
                <a:srgbClr val="0A2240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484632" y="2331720"/>
              <a:ext cx="2468880" cy="3017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A2240"/>
                  </a:solidFill>
                </a:rPr>
                <a:t>scikit-learn</a:t>
              </a:r>
              <a:endParaRPr lang="en-US" sz="1600" dirty="0">
                <a:solidFill>
                  <a:srgbClr val="0A2240"/>
                </a:solidFill>
              </a:endParaRPr>
            </a:p>
          </p:txBody>
        </p:sp>
        <p:sp>
          <p:nvSpPr>
            <p:cNvPr id="20" name="Text 18"/>
            <p:cNvSpPr/>
            <p:nvPr/>
          </p:nvSpPr>
          <p:spPr>
            <a:xfrm>
              <a:off x="484632" y="2651760"/>
              <a:ext cx="24688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64748B"/>
                  </a:solidFill>
                </a:rPr>
                <a:t>Random Forest, Decision Tree, Logistic/Linear Regression</a:t>
              </a:r>
              <a:endParaRPr lang="en-US" sz="14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3154680" y="2286000"/>
              <a:ext cx="2697480" cy="69494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3154680" y="2286000"/>
              <a:ext cx="91440" cy="694944"/>
            </a:xfrm>
            <a:prstGeom prst="rect">
              <a:avLst/>
            </a:prstGeom>
            <a:solidFill>
              <a:srgbClr val="B8952A"/>
            </a:solidFill>
            <a:ln w="12700">
              <a:solidFill>
                <a:srgbClr val="B8952A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3319272" y="2331720"/>
              <a:ext cx="2468880" cy="3017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B8952A"/>
                  </a:solidFill>
                </a:rPr>
                <a:t>Streamlit + Plotly</a:t>
              </a:r>
              <a:endParaRPr lang="en-US" sz="1600" dirty="0">
                <a:solidFill>
                  <a:srgbClr val="B8952A"/>
                </a:solidFill>
              </a:endParaRPr>
            </a:p>
          </p:txBody>
        </p:sp>
        <p:sp>
          <p:nvSpPr>
            <p:cNvPr id="24" name="Text 22"/>
            <p:cNvSpPr/>
            <p:nvPr/>
          </p:nvSpPr>
          <p:spPr>
            <a:xfrm>
              <a:off x="3319272" y="2651760"/>
              <a:ext cx="24688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64748B"/>
                  </a:solidFill>
                </a:rPr>
                <a:t>Interactive web dashboard</a:t>
              </a:r>
              <a:endParaRPr lang="en-US" sz="14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320040" y="3090672"/>
              <a:ext cx="2697480" cy="69494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26" name="Shape 24"/>
            <p:cNvSpPr/>
            <p:nvPr/>
          </p:nvSpPr>
          <p:spPr>
            <a:xfrm>
              <a:off x="320040" y="3090672"/>
              <a:ext cx="91440" cy="694944"/>
            </a:xfrm>
            <a:prstGeom prst="rect">
              <a:avLst/>
            </a:prstGeom>
            <a:solidFill>
              <a:srgbClr val="E05A2B"/>
            </a:solidFill>
            <a:ln w="12700">
              <a:solidFill>
                <a:srgbClr val="E05A2B"/>
              </a:solidFill>
              <a:prstDash val="solid"/>
            </a:ln>
          </p:spPr>
        </p:sp>
        <p:sp>
          <p:nvSpPr>
            <p:cNvPr id="27" name="Text 25"/>
            <p:cNvSpPr/>
            <p:nvPr/>
          </p:nvSpPr>
          <p:spPr>
            <a:xfrm>
              <a:off x="484632" y="3136392"/>
              <a:ext cx="2468880" cy="3017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E05A2B"/>
                  </a:solidFill>
                </a:rPr>
                <a:t>Folium</a:t>
              </a:r>
              <a:endParaRPr lang="en-US" sz="1600" dirty="0">
                <a:solidFill>
                  <a:srgbClr val="E05A2B"/>
                </a:solidFill>
              </a:endParaRPr>
            </a:p>
          </p:txBody>
        </p:sp>
        <p:sp>
          <p:nvSpPr>
            <p:cNvPr id="28" name="Text 26"/>
            <p:cNvSpPr/>
            <p:nvPr/>
          </p:nvSpPr>
          <p:spPr>
            <a:xfrm>
              <a:off x="484632" y="3456432"/>
              <a:ext cx="24688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64748B"/>
                  </a:solidFill>
                </a:rPr>
                <a:t>2 geographic HTML maps</a:t>
              </a:r>
              <a:endParaRPr lang="en-US" sz="14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3154680" y="3090672"/>
              <a:ext cx="2697480" cy="69494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30" name="Shape 28"/>
            <p:cNvSpPr/>
            <p:nvPr/>
          </p:nvSpPr>
          <p:spPr>
            <a:xfrm>
              <a:off x="3154680" y="3090672"/>
              <a:ext cx="91440" cy="694944"/>
            </a:xfrm>
            <a:prstGeom prst="rect">
              <a:avLst/>
            </a:prstGeom>
            <a:solidFill>
              <a:srgbClr val="E05A2B"/>
            </a:solidFill>
            <a:ln w="12700">
              <a:solidFill>
                <a:srgbClr val="E05A2B"/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3319272" y="3136392"/>
              <a:ext cx="2468880" cy="3017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E05A2B"/>
                  </a:solidFill>
                </a:rPr>
                <a:t>statsmodels</a:t>
              </a:r>
            </a:p>
          </p:txBody>
        </p:sp>
        <p:sp>
          <p:nvSpPr>
            <p:cNvPr id="32" name="Text 30"/>
            <p:cNvSpPr/>
            <p:nvPr/>
          </p:nvSpPr>
          <p:spPr>
            <a:xfrm>
              <a:off x="3319272" y="3456432"/>
              <a:ext cx="24688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64748B"/>
                  </a:solidFill>
                </a:rPr>
                <a:t>Holt-Winters 6-month forecasting</a:t>
              </a:r>
              <a:endParaRPr lang="en-US" sz="140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320040" y="3895344"/>
              <a:ext cx="2697480" cy="69494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34" name="Shape 32"/>
            <p:cNvSpPr/>
            <p:nvPr/>
          </p:nvSpPr>
          <p:spPr>
            <a:xfrm>
              <a:off x="320040" y="3895344"/>
              <a:ext cx="91440" cy="694944"/>
            </a:xfrm>
            <a:prstGeom prst="rect">
              <a:avLst/>
            </a:prstGeom>
            <a:solidFill>
              <a:srgbClr val="64748B"/>
            </a:solidFill>
            <a:ln w="12700">
              <a:solidFill>
                <a:srgbClr val="64748B"/>
              </a:solidFill>
              <a:prstDash val="solid"/>
            </a:ln>
          </p:spPr>
        </p:sp>
        <p:sp>
          <p:nvSpPr>
            <p:cNvPr id="35" name="Text 33"/>
            <p:cNvSpPr/>
            <p:nvPr/>
          </p:nvSpPr>
          <p:spPr>
            <a:xfrm>
              <a:off x="484632" y="3941064"/>
              <a:ext cx="2468880" cy="3017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64748B"/>
                  </a:solidFill>
                </a:rPr>
                <a:t>Matplotlib + Seaborn</a:t>
              </a:r>
              <a:endParaRPr lang="en-US" sz="1600" dirty="0">
                <a:solidFill>
                  <a:srgbClr val="64748B"/>
                </a:solidFill>
              </a:endParaRPr>
            </a:p>
          </p:txBody>
        </p:sp>
        <p:sp>
          <p:nvSpPr>
            <p:cNvPr id="36" name="Text 34"/>
            <p:cNvSpPr/>
            <p:nvPr/>
          </p:nvSpPr>
          <p:spPr>
            <a:xfrm>
              <a:off x="484632" y="4261104"/>
              <a:ext cx="24688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64748B"/>
                  </a:solidFill>
                </a:rPr>
                <a:t>13 static analysis charts</a:t>
              </a:r>
              <a:endParaRPr lang="en-US" sz="1400" dirty="0"/>
            </a:p>
          </p:txBody>
        </p:sp>
        <p:sp>
          <p:nvSpPr>
            <p:cNvPr id="37" name="Shape 35"/>
            <p:cNvSpPr/>
            <p:nvPr/>
          </p:nvSpPr>
          <p:spPr>
            <a:xfrm>
              <a:off x="3154680" y="3895344"/>
              <a:ext cx="2697480" cy="69494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38" name="Shape 36"/>
            <p:cNvSpPr/>
            <p:nvPr/>
          </p:nvSpPr>
          <p:spPr>
            <a:xfrm>
              <a:off x="3154680" y="3895344"/>
              <a:ext cx="91440" cy="694944"/>
            </a:xfrm>
            <a:prstGeom prst="rect">
              <a:avLst/>
            </a:prstGeom>
            <a:solidFill>
              <a:srgbClr val="64748B"/>
            </a:solidFill>
            <a:ln w="12700">
              <a:solidFill>
                <a:srgbClr val="64748B"/>
              </a:solidFill>
              <a:prstDash val="solid"/>
            </a:ln>
          </p:spPr>
        </p:sp>
        <p:sp>
          <p:nvSpPr>
            <p:cNvPr id="39" name="Text 37"/>
            <p:cNvSpPr/>
            <p:nvPr/>
          </p:nvSpPr>
          <p:spPr>
            <a:xfrm>
              <a:off x="3319272" y="3941064"/>
              <a:ext cx="2468880" cy="3017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64748B"/>
                  </a:solidFill>
                </a:rPr>
                <a:t>sklearn.metrics</a:t>
              </a:r>
            </a:p>
          </p:txBody>
        </p:sp>
        <p:sp>
          <p:nvSpPr>
            <p:cNvPr id="40" name="Text 38"/>
            <p:cNvSpPr/>
            <p:nvPr/>
          </p:nvSpPr>
          <p:spPr>
            <a:xfrm>
              <a:off x="3319272" y="4261104"/>
              <a:ext cx="24688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64748B"/>
                  </a:solidFill>
                </a:rPr>
                <a:t>R2, MAE, RMSE, Accuracy, F1, Confusion Matrix</a:t>
              </a:r>
              <a:endParaRPr lang="en-US" sz="1400" dirty="0"/>
            </a:p>
          </p:txBody>
        </p:sp>
      </p:grpSp>
      <p:sp>
        <p:nvSpPr>
          <p:cNvPr id="41" name="Shape 39"/>
          <p:cNvSpPr/>
          <p:nvPr/>
        </p:nvSpPr>
        <p:spPr>
          <a:xfrm>
            <a:off x="6080760" y="1005840"/>
            <a:ext cx="0" cy="568800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63640" y="1024128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240"/>
                </a:solidFill>
              </a:rPr>
              <a:t>Datasets</a:t>
            </a:r>
            <a:endParaRPr lang="en-US" sz="2000" dirty="0"/>
          </a:p>
        </p:txBody>
      </p:sp>
      <p:sp>
        <p:nvSpPr>
          <p:cNvPr id="43" name="Shape 41"/>
          <p:cNvSpPr/>
          <p:nvPr/>
        </p:nvSpPr>
        <p:spPr>
          <a:xfrm>
            <a:off x="6263640" y="1481328"/>
            <a:ext cx="56235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263640" y="1481328"/>
            <a:ext cx="56235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46520" y="1591056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D9488"/>
                </a:solidFill>
              </a:rPr>
              <a:t>Air Quality Data in India (CPCB)</a:t>
            </a:r>
          </a:p>
        </p:txBody>
      </p:sp>
      <p:sp>
        <p:nvSpPr>
          <p:cNvPr id="46" name="Text 44"/>
          <p:cNvSpPr/>
          <p:nvPr/>
        </p:nvSpPr>
        <p:spPr>
          <a:xfrm>
            <a:off x="6446520" y="19842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26 cities · 2015-2020 · Daily resolution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446520" y="22585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PM2.5, PM10, NO2, SO2, CO, O3 + 5 more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9829800" y="1992269"/>
            <a:ext cx="1828800" cy="475488"/>
          </a:xfrm>
          <a:prstGeom prst="roundRect">
            <a:avLst>
              <a:gd name="adj" fmla="val 1923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829800" y="1992269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29,531 rows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6263640" y="3041904"/>
            <a:ext cx="56235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263640" y="3041904"/>
            <a:ext cx="5623560" cy="64008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46520" y="3151632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B8952A"/>
                </a:solidFill>
              </a:rPr>
              <a:t>Stations Metadata (CPCB)</a:t>
            </a:r>
          </a:p>
        </p:txBody>
      </p:sp>
      <p:sp>
        <p:nvSpPr>
          <p:cNvPr id="53" name="Text 51"/>
          <p:cNvSpPr/>
          <p:nvPr/>
        </p:nvSpPr>
        <p:spPr>
          <a:xfrm>
            <a:off x="6446520" y="35448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230 stations · City-State mapping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6446520" y="38191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Used to attach State to each city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9829800" y="3544824"/>
            <a:ext cx="1828800" cy="475488"/>
          </a:xfrm>
          <a:prstGeom prst="roundRect">
            <a:avLst>
              <a:gd name="adj" fmla="val 19231"/>
            </a:avLst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829800" y="354482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230 rows</a:t>
            </a:r>
            <a:endParaRPr lang="en-US" sz="1400" dirty="0"/>
          </a:p>
        </p:txBody>
      </p:sp>
      <p:sp>
        <p:nvSpPr>
          <p:cNvPr id="5" name="Shape 62"/>
          <p:cNvSpPr/>
          <p:nvPr/>
        </p:nvSpPr>
        <p:spPr>
          <a:xfrm>
            <a:off x="6263640" y="6208776"/>
            <a:ext cx="5623560" cy="475488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</p:sp>
      <p:sp>
        <p:nvSpPr>
          <p:cNvPr id="57" name="Text 63"/>
          <p:cNvSpPr/>
          <p:nvPr/>
        </p:nvSpPr>
        <p:spPr>
          <a:xfrm>
            <a:off x="6263640" y="6198616"/>
            <a:ext cx="5623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8952A"/>
                </a:solidFill>
              </a:rPr>
              <a:t>Total: 29,530 cleaned records, 0 missing values</a:t>
            </a:r>
            <a:endParaRPr lang="en-US" sz="1600" dirty="0"/>
          </a:p>
        </p:txBody>
      </p:sp>
      <p:sp>
        <p:nvSpPr>
          <p:cNvPr id="58" name="Shape 55">
            <a:extLst>
              <a:ext uri="{FF2B5EF4-FFF2-40B4-BE49-F238E27FC236}">
                <a16:creationId xmlns:a16="http://schemas.microsoft.com/office/drawing/2014/main" id="{AA8B47C7-F98C-50E7-821A-2EAC6EA65E13}"/>
              </a:ext>
            </a:extLst>
          </p:cNvPr>
          <p:cNvSpPr/>
          <p:nvPr/>
        </p:nvSpPr>
        <p:spPr>
          <a:xfrm>
            <a:off x="6263640" y="4602480"/>
            <a:ext cx="56235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9" name="Shape 56">
            <a:extLst>
              <a:ext uri="{FF2B5EF4-FFF2-40B4-BE49-F238E27FC236}">
                <a16:creationId xmlns:a16="http://schemas.microsoft.com/office/drawing/2014/main" id="{1259A040-0C02-29AA-3853-936FD5BC526B}"/>
              </a:ext>
            </a:extLst>
          </p:cNvPr>
          <p:cNvSpPr/>
          <p:nvPr/>
        </p:nvSpPr>
        <p:spPr>
          <a:xfrm>
            <a:off x="6263640" y="4602480"/>
            <a:ext cx="5623560" cy="64008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60" name="Text 57">
            <a:extLst>
              <a:ext uri="{FF2B5EF4-FFF2-40B4-BE49-F238E27FC236}">
                <a16:creationId xmlns:a16="http://schemas.microsoft.com/office/drawing/2014/main" id="{FFF06624-7D86-E502-732C-79287294CFE4}"/>
              </a:ext>
            </a:extLst>
          </p:cNvPr>
          <p:cNvSpPr/>
          <p:nvPr/>
        </p:nvSpPr>
        <p:spPr>
          <a:xfrm>
            <a:off x="6446520" y="4712208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E05A2B"/>
                </a:solidFill>
              </a:rPr>
              <a:t>City Coordinates (compiled)</a:t>
            </a:r>
          </a:p>
        </p:txBody>
      </p:sp>
      <p:sp>
        <p:nvSpPr>
          <p:cNvPr id="61" name="Text 58">
            <a:extLst>
              <a:ext uri="{FF2B5EF4-FFF2-40B4-BE49-F238E27FC236}">
                <a16:creationId xmlns:a16="http://schemas.microsoft.com/office/drawing/2014/main" id="{2CBDC1A3-72B1-5F2F-62DA-BB3CE915A145}"/>
              </a:ext>
            </a:extLst>
          </p:cNvPr>
          <p:cNvSpPr/>
          <p:nvPr/>
        </p:nvSpPr>
        <p:spPr>
          <a:xfrm>
            <a:off x="6446520" y="5105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26 cities · Lat/Long reference</a:t>
            </a:r>
            <a:endParaRPr lang="en-US" sz="1400" dirty="0"/>
          </a:p>
        </p:txBody>
      </p:sp>
      <p:sp>
        <p:nvSpPr>
          <p:cNvPr id="62" name="Text 59">
            <a:extLst>
              <a:ext uri="{FF2B5EF4-FFF2-40B4-BE49-F238E27FC236}">
                <a16:creationId xmlns:a16="http://schemas.microsoft.com/office/drawing/2014/main" id="{3C36DCD0-DAB0-20DE-FC90-E00CFCA2F27D}"/>
              </a:ext>
            </a:extLst>
          </p:cNvPr>
          <p:cNvSpPr/>
          <p:nvPr/>
        </p:nvSpPr>
        <p:spPr>
          <a:xfrm>
            <a:off x="6446520" y="5379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Used for Folium geo-visualization</a:t>
            </a:r>
            <a:endParaRPr lang="en-US" sz="1400" dirty="0"/>
          </a:p>
        </p:txBody>
      </p:sp>
      <p:sp>
        <p:nvSpPr>
          <p:cNvPr id="63" name="Shape 60">
            <a:extLst>
              <a:ext uri="{FF2B5EF4-FFF2-40B4-BE49-F238E27FC236}">
                <a16:creationId xmlns:a16="http://schemas.microsoft.com/office/drawing/2014/main" id="{FEFEEDD3-EC0D-215A-8861-938A49D1918F}"/>
              </a:ext>
            </a:extLst>
          </p:cNvPr>
          <p:cNvSpPr/>
          <p:nvPr/>
        </p:nvSpPr>
        <p:spPr>
          <a:xfrm>
            <a:off x="9829800" y="5105400"/>
            <a:ext cx="1828800" cy="475488"/>
          </a:xfrm>
          <a:prstGeom prst="roundRect">
            <a:avLst>
              <a:gd name="adj" fmla="val 19231"/>
            </a:avLst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66" name="Text 61">
            <a:extLst>
              <a:ext uri="{FF2B5EF4-FFF2-40B4-BE49-F238E27FC236}">
                <a16:creationId xmlns:a16="http://schemas.microsoft.com/office/drawing/2014/main" id="{C2C3CECC-3AC7-78EB-D903-42BA674BB1A4}"/>
              </a:ext>
            </a:extLst>
          </p:cNvPr>
          <p:cNvSpPr/>
          <p:nvPr/>
        </p:nvSpPr>
        <p:spPr>
          <a:xfrm>
            <a:off x="9829800" y="51054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26 rows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961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FFFFF"/>
                </a:solidFill>
              </a:rPr>
              <a:t>Code Walkthrough</a:t>
            </a:r>
          </a:p>
        </p:txBody>
      </p:sp>
      <p:sp>
        <p:nvSpPr>
          <p:cNvPr id="6" name="Text 4"/>
          <p:cNvSpPr/>
          <p:nvPr/>
        </p:nvSpPr>
        <p:spPr>
          <a:xfrm>
            <a:off x="9921240" y="219456"/>
            <a:ext cx="2057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240"/>
                </a:solidFill>
              </a:rPr>
              <a:t>2:30 – 5:00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D8B2FCA5-7453-1FDC-087E-CF61666DC360}"/>
              </a:ext>
            </a:extLst>
          </p:cNvPr>
          <p:cNvGrpSpPr/>
          <p:nvPr/>
        </p:nvGrpSpPr>
        <p:grpSpPr>
          <a:xfrm>
            <a:off x="78232" y="1920240"/>
            <a:ext cx="12012168" cy="3950208"/>
            <a:chOff x="292608" y="1444752"/>
            <a:chExt cx="11704320" cy="3529584"/>
          </a:xfrm>
        </p:grpSpPr>
        <p:sp>
          <p:nvSpPr>
            <p:cNvPr id="9" name="Shape 7"/>
            <p:cNvSpPr/>
            <p:nvPr/>
          </p:nvSpPr>
          <p:spPr>
            <a:xfrm>
              <a:off x="292608" y="1444752"/>
              <a:ext cx="3840480" cy="111556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10" name="Shape 8"/>
            <p:cNvSpPr/>
            <p:nvPr/>
          </p:nvSpPr>
          <p:spPr>
            <a:xfrm>
              <a:off x="292608" y="1444752"/>
              <a:ext cx="3840480" cy="64008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</p:sp>
        <p:sp>
          <p:nvSpPr>
            <p:cNvPr id="11" name="Shape 9"/>
            <p:cNvSpPr/>
            <p:nvPr/>
          </p:nvSpPr>
          <p:spPr>
            <a:xfrm>
              <a:off x="402336" y="1609344"/>
              <a:ext cx="411480" cy="411480"/>
            </a:xfrm>
            <a:prstGeom prst="roundRect">
              <a:avLst>
                <a:gd name="adj" fmla="val 26667"/>
              </a:avLst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402336" y="1609344"/>
              <a:ext cx="411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</a:rPr>
                <a:t>1</a:t>
              </a:r>
              <a:endParaRPr lang="en-US" sz="13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914400" y="1626973"/>
              <a:ext cx="30906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0D9488"/>
                  </a:solidFill>
                </a:rPr>
                <a:t>Data Cleaning</a:t>
              </a:r>
            </a:p>
          </p:txBody>
        </p:sp>
        <p:sp>
          <p:nvSpPr>
            <p:cNvPr id="14" name="Text 12"/>
            <p:cNvSpPr/>
            <p:nvPr/>
          </p:nvSpPr>
          <p:spPr>
            <a:xfrm>
              <a:off x="402336" y="2066544"/>
              <a:ext cx="362102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475569"/>
                  </a:solidFill>
                </a:rPr>
                <a:t>phase1_cleaning.py · CPCB AQI recomputation · imputation</a:t>
              </a:r>
              <a:endParaRPr lang="en-US" sz="14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4224528" y="1444752"/>
              <a:ext cx="3840480" cy="111556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16" name="Shape 14"/>
            <p:cNvSpPr/>
            <p:nvPr/>
          </p:nvSpPr>
          <p:spPr>
            <a:xfrm>
              <a:off x="4224528" y="1444752"/>
              <a:ext cx="3840480" cy="64008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</p:sp>
        <p:sp>
          <p:nvSpPr>
            <p:cNvPr id="17" name="Shape 15"/>
            <p:cNvSpPr/>
            <p:nvPr/>
          </p:nvSpPr>
          <p:spPr>
            <a:xfrm>
              <a:off x="4334256" y="1609344"/>
              <a:ext cx="411480" cy="411480"/>
            </a:xfrm>
            <a:prstGeom prst="roundRect">
              <a:avLst>
                <a:gd name="adj" fmla="val 26667"/>
              </a:avLst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4334256" y="1609344"/>
              <a:ext cx="411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</a:rPr>
                <a:t>2</a:t>
              </a:r>
              <a:endParaRPr lang="en-US" sz="13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4846320" y="1626973"/>
              <a:ext cx="30906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0D9488"/>
                  </a:solidFill>
                </a:rPr>
                <a:t>EDA</a:t>
              </a:r>
            </a:p>
          </p:txBody>
        </p:sp>
        <p:sp>
          <p:nvSpPr>
            <p:cNvPr id="20" name="Text 18"/>
            <p:cNvSpPr/>
            <p:nvPr/>
          </p:nvSpPr>
          <p:spPr>
            <a:xfrm>
              <a:off x="4334256" y="2066544"/>
              <a:ext cx="362102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475569"/>
                  </a:solidFill>
                </a:rPr>
                <a:t>phase2_eda.py · 7 charts · correlation + seasonality</a:t>
              </a:r>
              <a:endParaRPr lang="en-US" sz="14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8156448" y="1444752"/>
              <a:ext cx="3840480" cy="111556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22" name="Shape 20"/>
            <p:cNvSpPr/>
            <p:nvPr/>
          </p:nvSpPr>
          <p:spPr>
            <a:xfrm>
              <a:off x="8156448" y="1444752"/>
              <a:ext cx="3840480" cy="64008"/>
            </a:xfrm>
            <a:prstGeom prst="rect">
              <a:avLst/>
            </a:prstGeom>
            <a:solidFill>
              <a:srgbClr val="0A2240"/>
            </a:solidFill>
            <a:ln w="12700">
              <a:solidFill>
                <a:srgbClr val="0A2240"/>
              </a:solidFill>
              <a:prstDash val="solid"/>
            </a:ln>
          </p:spPr>
        </p:sp>
        <p:sp>
          <p:nvSpPr>
            <p:cNvPr id="23" name="Shape 21"/>
            <p:cNvSpPr/>
            <p:nvPr/>
          </p:nvSpPr>
          <p:spPr>
            <a:xfrm>
              <a:off x="8266176" y="1609344"/>
              <a:ext cx="411480" cy="411480"/>
            </a:xfrm>
            <a:prstGeom prst="roundRect">
              <a:avLst>
                <a:gd name="adj" fmla="val 26667"/>
              </a:avLst>
            </a:prstGeom>
            <a:solidFill>
              <a:srgbClr val="0A2240"/>
            </a:solidFill>
            <a:ln w="12700">
              <a:solidFill>
                <a:srgbClr val="0A2240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8266176" y="1609344"/>
              <a:ext cx="411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</a:rPr>
                <a:t>3</a:t>
              </a:r>
              <a:endParaRPr lang="en-US" sz="13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8778240" y="1626973"/>
              <a:ext cx="30906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0A2240"/>
                  </a:solidFill>
                </a:rPr>
                <a:t>Feature Engineering</a:t>
              </a:r>
            </a:p>
          </p:txBody>
        </p:sp>
        <p:sp>
          <p:nvSpPr>
            <p:cNvPr id="26" name="Text 24"/>
            <p:cNvSpPr/>
            <p:nvPr/>
          </p:nvSpPr>
          <p:spPr>
            <a:xfrm>
              <a:off x="8266176" y="2066544"/>
              <a:ext cx="362102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475569"/>
                  </a:solidFill>
                </a:rPr>
                <a:t>phase3_feature_engineering.py · lag &amp; rolling AQI</a:t>
              </a:r>
              <a:endParaRPr lang="en-US" sz="14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292608" y="2651760"/>
              <a:ext cx="3840480" cy="111556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28" name="Shape 26"/>
            <p:cNvSpPr/>
            <p:nvPr/>
          </p:nvSpPr>
          <p:spPr>
            <a:xfrm>
              <a:off x="292608" y="2651760"/>
              <a:ext cx="3840480" cy="64008"/>
            </a:xfrm>
            <a:prstGeom prst="rect">
              <a:avLst/>
            </a:prstGeom>
            <a:solidFill>
              <a:srgbClr val="B8952A"/>
            </a:solidFill>
            <a:ln w="12700">
              <a:solidFill>
                <a:srgbClr val="B8952A"/>
              </a:solidFill>
              <a:prstDash val="solid"/>
            </a:ln>
          </p:spPr>
        </p:sp>
        <p:sp>
          <p:nvSpPr>
            <p:cNvPr id="29" name="Shape 27"/>
            <p:cNvSpPr/>
            <p:nvPr/>
          </p:nvSpPr>
          <p:spPr>
            <a:xfrm>
              <a:off x="402336" y="2816352"/>
              <a:ext cx="411480" cy="411480"/>
            </a:xfrm>
            <a:prstGeom prst="roundRect">
              <a:avLst>
                <a:gd name="adj" fmla="val 26667"/>
              </a:avLst>
            </a:prstGeom>
            <a:solidFill>
              <a:srgbClr val="B8952A"/>
            </a:solidFill>
            <a:ln w="12700">
              <a:solidFill>
                <a:srgbClr val="B8952A"/>
              </a:solidFill>
              <a:prstDash val="solid"/>
            </a:ln>
          </p:spPr>
        </p:sp>
        <p:sp>
          <p:nvSpPr>
            <p:cNvPr id="30" name="Text 28"/>
            <p:cNvSpPr/>
            <p:nvPr/>
          </p:nvSpPr>
          <p:spPr>
            <a:xfrm>
              <a:off x="402336" y="2816352"/>
              <a:ext cx="411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</a:rPr>
                <a:t>4</a:t>
              </a:r>
              <a:endParaRPr lang="en-US" sz="13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914400" y="2833980"/>
              <a:ext cx="30906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B8952A"/>
                  </a:solidFill>
                </a:rPr>
                <a:t>Geo-Visualization</a:t>
              </a:r>
            </a:p>
          </p:txBody>
        </p:sp>
        <p:sp>
          <p:nvSpPr>
            <p:cNvPr id="32" name="Text 30"/>
            <p:cNvSpPr/>
            <p:nvPr/>
          </p:nvSpPr>
          <p:spPr>
            <a:xfrm>
              <a:off x="402336" y="3273552"/>
              <a:ext cx="362102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475569"/>
                  </a:solidFill>
                </a:rPr>
                <a:t>phase4_geo_visualization.py · Folium · 26 cities</a:t>
              </a:r>
              <a:endParaRPr lang="en-US" sz="140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4224528" y="2651760"/>
              <a:ext cx="3840480" cy="111556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34" name="Shape 32"/>
            <p:cNvSpPr/>
            <p:nvPr/>
          </p:nvSpPr>
          <p:spPr>
            <a:xfrm>
              <a:off x="4224528" y="2651760"/>
              <a:ext cx="3840480" cy="64008"/>
            </a:xfrm>
            <a:prstGeom prst="rect">
              <a:avLst/>
            </a:prstGeom>
            <a:solidFill>
              <a:srgbClr val="B8952A"/>
            </a:solidFill>
            <a:ln w="12700">
              <a:solidFill>
                <a:srgbClr val="B8952A"/>
              </a:solidFill>
              <a:prstDash val="solid"/>
            </a:ln>
          </p:spPr>
        </p:sp>
        <p:sp>
          <p:nvSpPr>
            <p:cNvPr id="35" name="Shape 33"/>
            <p:cNvSpPr/>
            <p:nvPr/>
          </p:nvSpPr>
          <p:spPr>
            <a:xfrm>
              <a:off x="4334256" y="2816352"/>
              <a:ext cx="411480" cy="411480"/>
            </a:xfrm>
            <a:prstGeom prst="roundRect">
              <a:avLst>
                <a:gd name="adj" fmla="val 26667"/>
              </a:avLst>
            </a:prstGeom>
            <a:solidFill>
              <a:srgbClr val="B8952A"/>
            </a:solidFill>
            <a:ln w="12700">
              <a:solidFill>
                <a:srgbClr val="B8952A"/>
              </a:solidFill>
              <a:prstDash val="solid"/>
            </a:ln>
          </p:spPr>
        </p:sp>
        <p:sp>
          <p:nvSpPr>
            <p:cNvPr id="36" name="Text 34"/>
            <p:cNvSpPr/>
            <p:nvPr/>
          </p:nvSpPr>
          <p:spPr>
            <a:xfrm>
              <a:off x="4334256" y="2816352"/>
              <a:ext cx="411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</a:rPr>
                <a:t>5</a:t>
              </a:r>
              <a:endParaRPr lang="en-US" sz="13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4846320" y="2833980"/>
              <a:ext cx="30906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B8952A"/>
                  </a:solidFill>
                </a:rPr>
                <a:t>Time-Series Forecasting</a:t>
              </a:r>
            </a:p>
          </p:txBody>
        </p:sp>
        <p:sp>
          <p:nvSpPr>
            <p:cNvPr id="38" name="Text 36"/>
            <p:cNvSpPr/>
            <p:nvPr/>
          </p:nvSpPr>
          <p:spPr>
            <a:xfrm>
              <a:off x="4334256" y="3273552"/>
              <a:ext cx="362102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475569"/>
                  </a:solidFill>
                </a:rPr>
                <a:t>phase5_time_series.py · Holt-Winters · 10 cities</a:t>
              </a:r>
              <a:endParaRPr lang="en-US" sz="140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8156448" y="2651760"/>
              <a:ext cx="3840480" cy="111556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40" name="Shape 38"/>
            <p:cNvSpPr/>
            <p:nvPr/>
          </p:nvSpPr>
          <p:spPr>
            <a:xfrm>
              <a:off x="8156448" y="2651760"/>
              <a:ext cx="3840480" cy="64008"/>
            </a:xfrm>
            <a:prstGeom prst="rect">
              <a:avLst/>
            </a:prstGeom>
            <a:solidFill>
              <a:srgbClr val="E05A2B"/>
            </a:solidFill>
            <a:ln w="12700">
              <a:solidFill>
                <a:srgbClr val="E05A2B"/>
              </a:solidFill>
              <a:prstDash val="solid"/>
            </a:ln>
          </p:spPr>
        </p:sp>
        <p:sp>
          <p:nvSpPr>
            <p:cNvPr id="41" name="Shape 39"/>
            <p:cNvSpPr/>
            <p:nvPr/>
          </p:nvSpPr>
          <p:spPr>
            <a:xfrm>
              <a:off x="8266176" y="2816352"/>
              <a:ext cx="411480" cy="411480"/>
            </a:xfrm>
            <a:prstGeom prst="roundRect">
              <a:avLst>
                <a:gd name="adj" fmla="val 26667"/>
              </a:avLst>
            </a:prstGeom>
            <a:solidFill>
              <a:srgbClr val="E05A2B"/>
            </a:solidFill>
            <a:ln w="12700">
              <a:solidFill>
                <a:srgbClr val="E05A2B"/>
              </a:solidFill>
              <a:prstDash val="solid"/>
            </a:ln>
          </p:spPr>
        </p:sp>
        <p:sp>
          <p:nvSpPr>
            <p:cNvPr id="42" name="Text 40"/>
            <p:cNvSpPr/>
            <p:nvPr/>
          </p:nvSpPr>
          <p:spPr>
            <a:xfrm>
              <a:off x="8266176" y="2816352"/>
              <a:ext cx="411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</a:rPr>
                <a:t>6</a:t>
              </a:r>
              <a:endParaRPr lang="en-US" sz="1300" dirty="0"/>
            </a:p>
          </p:txBody>
        </p:sp>
        <p:sp>
          <p:nvSpPr>
            <p:cNvPr id="43" name="Text 41"/>
            <p:cNvSpPr/>
            <p:nvPr/>
          </p:nvSpPr>
          <p:spPr>
            <a:xfrm>
              <a:off x="8778240" y="2833980"/>
              <a:ext cx="30906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E05A2B"/>
                  </a:solidFill>
                </a:rPr>
                <a:t>ML Prediction</a:t>
              </a:r>
            </a:p>
          </p:txBody>
        </p:sp>
        <p:sp>
          <p:nvSpPr>
            <p:cNvPr id="44" name="Text 42"/>
            <p:cNvSpPr/>
            <p:nvPr/>
          </p:nvSpPr>
          <p:spPr>
            <a:xfrm>
              <a:off x="8266176" y="3273552"/>
              <a:ext cx="362102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475569"/>
                  </a:solidFill>
                </a:rPr>
                <a:t>phase6_ml_modeling.py · Random Forest, Decision Tree, Logistic Regression</a:t>
              </a:r>
              <a:endParaRPr lang="en-US" sz="1400" dirty="0"/>
            </a:p>
          </p:txBody>
        </p:sp>
        <p:sp>
          <p:nvSpPr>
            <p:cNvPr id="45" name="Shape 43"/>
            <p:cNvSpPr/>
            <p:nvPr/>
          </p:nvSpPr>
          <p:spPr>
            <a:xfrm>
              <a:off x="292608" y="3858768"/>
              <a:ext cx="3840480" cy="111556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46" name="Shape 44"/>
            <p:cNvSpPr/>
            <p:nvPr/>
          </p:nvSpPr>
          <p:spPr>
            <a:xfrm>
              <a:off x="292608" y="3858768"/>
              <a:ext cx="3840480" cy="64008"/>
            </a:xfrm>
            <a:prstGeom prst="rect">
              <a:avLst/>
            </a:prstGeom>
            <a:solidFill>
              <a:srgbClr val="E05A2B"/>
            </a:solidFill>
            <a:ln w="12700">
              <a:solidFill>
                <a:srgbClr val="E05A2B"/>
              </a:solidFill>
              <a:prstDash val="solid"/>
            </a:ln>
          </p:spPr>
        </p:sp>
        <p:sp>
          <p:nvSpPr>
            <p:cNvPr id="47" name="Shape 45"/>
            <p:cNvSpPr/>
            <p:nvPr/>
          </p:nvSpPr>
          <p:spPr>
            <a:xfrm>
              <a:off x="402336" y="4023360"/>
              <a:ext cx="411480" cy="411480"/>
            </a:xfrm>
            <a:prstGeom prst="roundRect">
              <a:avLst>
                <a:gd name="adj" fmla="val 26667"/>
              </a:avLst>
            </a:prstGeom>
            <a:solidFill>
              <a:srgbClr val="E05A2B"/>
            </a:solidFill>
            <a:ln w="12700">
              <a:solidFill>
                <a:srgbClr val="E05A2B"/>
              </a:solidFill>
              <a:prstDash val="solid"/>
            </a:ln>
          </p:spPr>
        </p:sp>
        <p:sp>
          <p:nvSpPr>
            <p:cNvPr id="48" name="Text 46"/>
            <p:cNvSpPr/>
            <p:nvPr/>
          </p:nvSpPr>
          <p:spPr>
            <a:xfrm>
              <a:off x="402336" y="4023360"/>
              <a:ext cx="411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</a:rPr>
                <a:t>7</a:t>
              </a:r>
              <a:endParaRPr lang="en-US" sz="1300" dirty="0"/>
            </a:p>
          </p:txBody>
        </p:sp>
        <p:sp>
          <p:nvSpPr>
            <p:cNvPr id="49" name="Text 47"/>
            <p:cNvSpPr/>
            <p:nvPr/>
          </p:nvSpPr>
          <p:spPr>
            <a:xfrm>
              <a:off x="914400" y="4040988"/>
              <a:ext cx="30906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E05A2B"/>
                  </a:solidFill>
                </a:rPr>
                <a:t>Model Evaluation</a:t>
              </a:r>
            </a:p>
          </p:txBody>
        </p:sp>
        <p:sp>
          <p:nvSpPr>
            <p:cNvPr id="50" name="Text 48"/>
            <p:cNvSpPr/>
            <p:nvPr/>
          </p:nvSpPr>
          <p:spPr>
            <a:xfrm>
              <a:off x="402336" y="4480560"/>
              <a:ext cx="362102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475569"/>
                  </a:solidFill>
                </a:rPr>
                <a:t>R2, MAE, RMSE, Accuracy, F1, Confusion Matrix</a:t>
              </a:r>
              <a:endParaRPr lang="en-US" sz="1400" dirty="0"/>
            </a:p>
          </p:txBody>
        </p:sp>
        <p:sp>
          <p:nvSpPr>
            <p:cNvPr id="51" name="Shape 49"/>
            <p:cNvSpPr/>
            <p:nvPr/>
          </p:nvSpPr>
          <p:spPr>
            <a:xfrm>
              <a:off x="4224528" y="3858768"/>
              <a:ext cx="3840480" cy="111556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52" name="Shape 50"/>
            <p:cNvSpPr/>
            <p:nvPr/>
          </p:nvSpPr>
          <p:spPr>
            <a:xfrm>
              <a:off x="4224528" y="3858768"/>
              <a:ext cx="3840480" cy="64008"/>
            </a:xfrm>
            <a:prstGeom prst="rect">
              <a:avLst/>
            </a:prstGeom>
            <a:solidFill>
              <a:srgbClr val="6D28D9"/>
            </a:solidFill>
            <a:ln w="12700">
              <a:solidFill>
                <a:srgbClr val="6D28D9"/>
              </a:solidFill>
              <a:prstDash val="solid"/>
            </a:ln>
          </p:spPr>
        </p:sp>
        <p:sp>
          <p:nvSpPr>
            <p:cNvPr id="53" name="Shape 51"/>
            <p:cNvSpPr/>
            <p:nvPr/>
          </p:nvSpPr>
          <p:spPr>
            <a:xfrm>
              <a:off x="4334256" y="4023360"/>
              <a:ext cx="411480" cy="411480"/>
            </a:xfrm>
            <a:prstGeom prst="roundRect">
              <a:avLst>
                <a:gd name="adj" fmla="val 26667"/>
              </a:avLst>
            </a:prstGeom>
            <a:solidFill>
              <a:srgbClr val="6D28D9"/>
            </a:solidFill>
            <a:ln w="12700">
              <a:solidFill>
                <a:srgbClr val="6D28D9"/>
              </a:solidFill>
              <a:prstDash val="solid"/>
            </a:ln>
          </p:spPr>
        </p:sp>
        <p:sp>
          <p:nvSpPr>
            <p:cNvPr id="54" name="Text 52"/>
            <p:cNvSpPr/>
            <p:nvPr/>
          </p:nvSpPr>
          <p:spPr>
            <a:xfrm>
              <a:off x="4334256" y="4023360"/>
              <a:ext cx="411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</a:rPr>
                <a:t>8</a:t>
              </a:r>
              <a:endParaRPr lang="en-US" sz="1300" dirty="0"/>
            </a:p>
          </p:txBody>
        </p:sp>
        <p:sp>
          <p:nvSpPr>
            <p:cNvPr id="55" name="Text 53"/>
            <p:cNvSpPr/>
            <p:nvPr/>
          </p:nvSpPr>
          <p:spPr>
            <a:xfrm>
              <a:off x="4846320" y="4040988"/>
              <a:ext cx="30906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6D28D9"/>
                  </a:solidFill>
                </a:rPr>
                <a:t>Streamlit Dashboard</a:t>
              </a:r>
              <a:endParaRPr lang="en-US" sz="1600" dirty="0">
                <a:solidFill>
                  <a:srgbClr val="6D28D9"/>
                </a:solidFill>
              </a:endParaRPr>
            </a:p>
          </p:txBody>
        </p:sp>
        <p:sp>
          <p:nvSpPr>
            <p:cNvPr id="56" name="Text 54"/>
            <p:cNvSpPr/>
            <p:nvPr/>
          </p:nvSpPr>
          <p:spPr>
            <a:xfrm>
              <a:off x="4334256" y="4480560"/>
              <a:ext cx="362102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475569"/>
                  </a:solidFill>
                </a:rPr>
                <a:t>app.py · 4 tabs · live filters · predictions</a:t>
              </a:r>
              <a:endParaRPr lang="en-US" sz="1400" dirty="0"/>
            </a:p>
          </p:txBody>
        </p:sp>
        <p:sp>
          <p:nvSpPr>
            <p:cNvPr id="57" name="Shape 55"/>
            <p:cNvSpPr/>
            <p:nvPr/>
          </p:nvSpPr>
          <p:spPr>
            <a:xfrm>
              <a:off x="8156448" y="3858768"/>
              <a:ext cx="3840480" cy="111556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58" name="Shape 56"/>
            <p:cNvSpPr/>
            <p:nvPr/>
          </p:nvSpPr>
          <p:spPr>
            <a:xfrm>
              <a:off x="8156448" y="3858768"/>
              <a:ext cx="3840480" cy="64008"/>
            </a:xfrm>
            <a:prstGeom prst="rect">
              <a:avLst/>
            </a:prstGeom>
            <a:solidFill>
              <a:srgbClr val="64748B"/>
            </a:solidFill>
            <a:ln w="12700">
              <a:solidFill>
                <a:srgbClr val="64748B"/>
              </a:solidFill>
              <a:prstDash val="solid"/>
            </a:ln>
          </p:spPr>
        </p:sp>
        <p:sp>
          <p:nvSpPr>
            <p:cNvPr id="59" name="Shape 57"/>
            <p:cNvSpPr/>
            <p:nvPr/>
          </p:nvSpPr>
          <p:spPr>
            <a:xfrm>
              <a:off x="8266176" y="4023360"/>
              <a:ext cx="411480" cy="411480"/>
            </a:xfrm>
            <a:prstGeom prst="roundRect">
              <a:avLst>
                <a:gd name="adj" fmla="val 26667"/>
              </a:avLst>
            </a:prstGeom>
            <a:solidFill>
              <a:srgbClr val="64748B"/>
            </a:solidFill>
            <a:ln w="12700">
              <a:solidFill>
                <a:srgbClr val="64748B"/>
              </a:solidFill>
              <a:prstDash val="solid"/>
            </a:ln>
          </p:spPr>
        </p:sp>
        <p:sp>
          <p:nvSpPr>
            <p:cNvPr id="60" name="Text 58"/>
            <p:cNvSpPr/>
            <p:nvPr/>
          </p:nvSpPr>
          <p:spPr>
            <a:xfrm>
              <a:off x="8266176" y="4023360"/>
              <a:ext cx="411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</a:rPr>
                <a:t>9</a:t>
              </a:r>
              <a:endParaRPr lang="en-US" sz="1300" dirty="0"/>
            </a:p>
          </p:txBody>
        </p:sp>
        <p:sp>
          <p:nvSpPr>
            <p:cNvPr id="61" name="Text 59"/>
            <p:cNvSpPr/>
            <p:nvPr/>
          </p:nvSpPr>
          <p:spPr>
            <a:xfrm>
              <a:off x="8778240" y="4040988"/>
              <a:ext cx="30906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64748B"/>
                  </a:solidFill>
                </a:rPr>
                <a:t>Report + GitHub</a:t>
              </a:r>
              <a:endParaRPr lang="en-US" sz="1600" dirty="0">
                <a:solidFill>
                  <a:srgbClr val="64748B"/>
                </a:solidFill>
              </a:endParaRPr>
            </a:p>
          </p:txBody>
        </p:sp>
        <p:sp>
          <p:nvSpPr>
            <p:cNvPr id="62" name="Text 60"/>
            <p:cNvSpPr/>
            <p:nvPr/>
          </p:nvSpPr>
          <p:spPr>
            <a:xfrm>
              <a:off x="8266176" y="4480560"/>
              <a:ext cx="362102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475569"/>
                  </a:solidFill>
                </a:rPr>
                <a:t>IEEE report · github.com/vjnitin312/da379</a:t>
              </a:r>
              <a:endParaRPr lang="en-US" sz="1400" dirty="0"/>
            </a:p>
          </p:txBody>
        </p:sp>
      </p:grpSp>
      <p:sp>
        <p:nvSpPr>
          <p:cNvPr id="64" name="Text 6">
            <a:extLst>
              <a:ext uri="{FF2B5EF4-FFF2-40B4-BE49-F238E27FC236}">
                <a16:creationId xmlns:a16="http://schemas.microsoft.com/office/drawing/2014/main" id="{9E2F4D66-FD2E-8663-64CE-633DC34D688A}"/>
              </a:ext>
            </a:extLst>
          </p:cNvPr>
          <p:cNvSpPr/>
          <p:nvPr/>
        </p:nvSpPr>
        <p:spPr>
          <a:xfrm>
            <a:off x="179832" y="1219071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A2240"/>
                </a:solidFill>
              </a:rPr>
              <a:t>9-Phase Pipeline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961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FFFFF"/>
                </a:solidFill>
              </a:rPr>
              <a:t>Live Demo — Streamlit Dashboard &amp; Folium Map</a:t>
            </a:r>
          </a:p>
        </p:txBody>
      </p:sp>
      <p:sp>
        <p:nvSpPr>
          <p:cNvPr id="6" name="Text 4"/>
          <p:cNvSpPr/>
          <p:nvPr/>
        </p:nvSpPr>
        <p:spPr>
          <a:xfrm>
            <a:off x="9921240" y="219456"/>
            <a:ext cx="2057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240"/>
                </a:solidFill>
              </a:rPr>
              <a:t>5:00 – 7:30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1276311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240"/>
                </a:solidFill>
              </a:rPr>
              <a:t>Streamlit Dashboard  —  localhost:8501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A349A1C-BDDF-FC54-6EDE-626D94F65FE7}"/>
              </a:ext>
            </a:extLst>
          </p:cNvPr>
          <p:cNvGrpSpPr/>
          <p:nvPr/>
        </p:nvGrpSpPr>
        <p:grpSpPr>
          <a:xfrm>
            <a:off x="292607" y="1706079"/>
            <a:ext cx="5861297" cy="3913632"/>
            <a:chOff x="292608" y="1706079"/>
            <a:chExt cx="5760720" cy="3831336"/>
          </a:xfrm>
        </p:grpSpPr>
        <p:sp>
          <p:nvSpPr>
            <p:cNvPr id="10" name="Shape 8"/>
            <p:cNvSpPr/>
            <p:nvPr/>
          </p:nvSpPr>
          <p:spPr>
            <a:xfrm>
              <a:off x="292608" y="1706079"/>
              <a:ext cx="5760720" cy="8686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11" name="Shape 9"/>
            <p:cNvSpPr/>
            <p:nvPr/>
          </p:nvSpPr>
          <p:spPr>
            <a:xfrm>
              <a:off x="384048" y="1870671"/>
              <a:ext cx="658368" cy="502920"/>
            </a:xfrm>
            <a:prstGeom prst="roundRect">
              <a:avLst>
                <a:gd name="adj" fmla="val 14545"/>
              </a:avLst>
            </a:prstGeom>
            <a:solidFill>
              <a:srgbClr val="0A2240"/>
            </a:solidFill>
            <a:ln w="12700">
              <a:solidFill>
                <a:srgbClr val="0A2240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384048" y="1870671"/>
              <a:ext cx="658368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400" b="1" dirty="0">
                  <a:solidFill>
                    <a:srgbClr val="0D9488"/>
                  </a:solidFill>
                </a:rPr>
                <a:t>Tab 1</a:t>
              </a:r>
            </a:p>
          </p:txBody>
        </p:sp>
        <p:sp>
          <p:nvSpPr>
            <p:cNvPr id="13" name="Text 11"/>
            <p:cNvSpPr/>
            <p:nvPr/>
          </p:nvSpPr>
          <p:spPr>
            <a:xfrm>
              <a:off x="1133856" y="1779231"/>
              <a:ext cx="47548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0D9488"/>
                  </a:solidFill>
                </a:rPr>
                <a:t>Overview</a:t>
              </a:r>
            </a:p>
          </p:txBody>
        </p:sp>
        <p:sp>
          <p:nvSpPr>
            <p:cNvPr id="14" name="Text 12"/>
            <p:cNvSpPr/>
            <p:nvPr/>
          </p:nvSpPr>
          <p:spPr>
            <a:xfrm>
              <a:off x="1133856" y="2163279"/>
              <a:ext cx="47548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</a:rPr>
                <a:t>National KPIs · AQI trend · category distribution</a:t>
              </a:r>
              <a:endParaRPr lang="en-US" sz="12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292608" y="2693631"/>
              <a:ext cx="5760720" cy="8686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384048" y="2858223"/>
              <a:ext cx="658368" cy="502920"/>
            </a:xfrm>
            <a:prstGeom prst="roundRect">
              <a:avLst>
                <a:gd name="adj" fmla="val 14545"/>
              </a:avLst>
            </a:prstGeom>
            <a:solidFill>
              <a:srgbClr val="0A2240"/>
            </a:solidFill>
            <a:ln w="12700">
              <a:solidFill>
                <a:srgbClr val="0A2240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384048" y="2858223"/>
              <a:ext cx="658368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400" b="1" dirty="0">
                  <a:solidFill>
                    <a:srgbClr val="E05A2B"/>
                  </a:solidFill>
                </a:rPr>
                <a:t>Tab 2</a:t>
              </a:r>
            </a:p>
          </p:txBody>
        </p:sp>
        <p:sp>
          <p:nvSpPr>
            <p:cNvPr id="18" name="Text 16"/>
            <p:cNvSpPr/>
            <p:nvPr/>
          </p:nvSpPr>
          <p:spPr>
            <a:xfrm>
              <a:off x="1133856" y="2766783"/>
              <a:ext cx="47548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E05A2B"/>
                  </a:solidFill>
                </a:rPr>
                <a:t>City Inspection</a:t>
              </a:r>
            </a:p>
          </p:txBody>
        </p:sp>
        <p:sp>
          <p:nvSpPr>
            <p:cNvPr id="19" name="Text 17"/>
            <p:cNvSpPr/>
            <p:nvPr/>
          </p:nvSpPr>
          <p:spPr>
            <a:xfrm>
              <a:off x="1133856" y="3150831"/>
              <a:ext cx="47548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</a:rPr>
                <a:t>Per-city AQI trend · seasonal pattern · pollutants</a:t>
              </a:r>
              <a:endParaRPr lang="en-US" sz="12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292608" y="3681183"/>
              <a:ext cx="5760720" cy="8686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384048" y="3845775"/>
              <a:ext cx="658368" cy="502920"/>
            </a:xfrm>
            <a:prstGeom prst="roundRect">
              <a:avLst>
                <a:gd name="adj" fmla="val 14545"/>
              </a:avLst>
            </a:prstGeom>
            <a:solidFill>
              <a:srgbClr val="0A2240"/>
            </a:solidFill>
            <a:ln w="12700">
              <a:solidFill>
                <a:srgbClr val="0A2240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384048" y="3845775"/>
              <a:ext cx="658368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400" b="1" dirty="0">
                  <a:solidFill>
                    <a:srgbClr val="B8952A"/>
                  </a:solidFill>
                </a:rPr>
                <a:t>Tab 3</a:t>
              </a:r>
            </a:p>
          </p:txBody>
        </p:sp>
        <p:sp>
          <p:nvSpPr>
            <p:cNvPr id="23" name="Text 21"/>
            <p:cNvSpPr/>
            <p:nvPr/>
          </p:nvSpPr>
          <p:spPr>
            <a:xfrm>
              <a:off x="1133856" y="3754335"/>
              <a:ext cx="47548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B8952A"/>
                  </a:solidFill>
                </a:rPr>
                <a:t>Predict AQI</a:t>
              </a:r>
            </a:p>
          </p:txBody>
        </p:sp>
        <p:sp>
          <p:nvSpPr>
            <p:cNvPr id="24" name="Text 22"/>
            <p:cNvSpPr/>
            <p:nvPr/>
          </p:nvSpPr>
          <p:spPr>
            <a:xfrm>
              <a:off x="1133856" y="4138383"/>
              <a:ext cx="47548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</a:rPr>
                <a:t>Live pollutant inputs · gauge chart · comparison</a:t>
              </a:r>
              <a:endParaRPr lang="en-US" sz="12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292608" y="4668735"/>
              <a:ext cx="5760720" cy="8686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26" name="Shape 24"/>
            <p:cNvSpPr/>
            <p:nvPr/>
          </p:nvSpPr>
          <p:spPr>
            <a:xfrm>
              <a:off x="384048" y="4833327"/>
              <a:ext cx="658368" cy="502920"/>
            </a:xfrm>
            <a:prstGeom prst="roundRect">
              <a:avLst>
                <a:gd name="adj" fmla="val 14545"/>
              </a:avLst>
            </a:prstGeom>
            <a:solidFill>
              <a:srgbClr val="0A2240"/>
            </a:solidFill>
            <a:ln w="12700">
              <a:solidFill>
                <a:srgbClr val="0A2240"/>
              </a:solidFill>
              <a:prstDash val="solid"/>
            </a:ln>
          </p:spPr>
        </p:sp>
        <p:sp>
          <p:nvSpPr>
            <p:cNvPr id="27" name="Text 25"/>
            <p:cNvSpPr/>
            <p:nvPr/>
          </p:nvSpPr>
          <p:spPr>
            <a:xfrm>
              <a:off x="384048" y="4833327"/>
              <a:ext cx="658368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400" b="1" dirty="0">
                  <a:solidFill>
                    <a:srgbClr val="B91C1C"/>
                  </a:solidFill>
                </a:rPr>
                <a:t>Tab 4</a:t>
              </a:r>
            </a:p>
          </p:txBody>
        </p:sp>
        <p:sp>
          <p:nvSpPr>
            <p:cNvPr id="28" name="Text 26"/>
            <p:cNvSpPr/>
            <p:nvPr/>
          </p:nvSpPr>
          <p:spPr>
            <a:xfrm>
              <a:off x="1133856" y="4741887"/>
              <a:ext cx="47548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B91C1C"/>
                  </a:solidFill>
                </a:rPr>
                <a:t>Map View</a:t>
              </a:r>
            </a:p>
          </p:txBody>
        </p:sp>
        <p:sp>
          <p:nvSpPr>
            <p:cNvPr id="29" name="Text 27"/>
            <p:cNvSpPr/>
            <p:nvPr/>
          </p:nvSpPr>
          <p:spPr>
            <a:xfrm>
              <a:off x="1133856" y="5125935"/>
              <a:ext cx="47548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</a:rPr>
                <a:t>All 26 cities · embedded Folium map · stats table</a:t>
              </a:r>
              <a:endParaRPr lang="en-US" sz="1200" dirty="0"/>
            </a:p>
          </p:txBody>
        </p:sp>
      </p:grpSp>
      <p:sp>
        <p:nvSpPr>
          <p:cNvPr id="30" name="Shape 28"/>
          <p:cNvSpPr/>
          <p:nvPr/>
        </p:nvSpPr>
        <p:spPr>
          <a:xfrm>
            <a:off x="6263640" y="1248879"/>
            <a:ext cx="0" cy="450000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1276311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240"/>
                </a:solidFill>
              </a:rPr>
              <a:t>2 Folium Maps Generated</a:t>
            </a: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6400800" y="1706079"/>
            <a:ext cx="54864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0" y="1706079"/>
            <a:ext cx="91440" cy="6949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65392" y="1751799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D9488"/>
                </a:solidFill>
              </a:rPr>
              <a:t>India AQI Map (main)</a:t>
            </a:r>
          </a:p>
        </p:txBody>
      </p:sp>
      <p:sp>
        <p:nvSpPr>
          <p:cNvPr id="35" name="Text 33"/>
          <p:cNvSpPr/>
          <p:nvPr/>
        </p:nvSpPr>
        <p:spPr>
          <a:xfrm>
            <a:off x="6565392" y="2071839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Click any city → popup with Avg/Max AQI details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00800" y="2510751"/>
            <a:ext cx="54864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0" y="2510751"/>
            <a:ext cx="91440" cy="694944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65392" y="2556471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05A2B"/>
                </a:solidFill>
              </a:rPr>
              <a:t>Legend &amp; Color Coding</a:t>
            </a:r>
          </a:p>
        </p:txBody>
      </p:sp>
      <p:sp>
        <p:nvSpPr>
          <p:cNvPr id="39" name="Text 37"/>
          <p:cNvSpPr/>
          <p:nvPr/>
        </p:nvSpPr>
        <p:spPr>
          <a:xfrm>
            <a:off x="6565392" y="2876511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6 CPCB categories, Good (green) to Severe (purple)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400800" y="3315423"/>
            <a:ext cx="54864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00800" y="3315423"/>
            <a:ext cx="91440" cy="694944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65392" y="3361143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B8952A"/>
                </a:solidFill>
              </a:rPr>
              <a:t>Top 10 Cities Map</a:t>
            </a:r>
          </a:p>
        </p:txBody>
      </p:sp>
      <p:sp>
        <p:nvSpPr>
          <p:cNvPr id="43" name="Text 41"/>
          <p:cNvSpPr/>
          <p:nvPr/>
        </p:nvSpPr>
        <p:spPr>
          <a:xfrm>
            <a:off x="6565392" y="3681183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Static map for the 10 most polluted cities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400800" y="4120095"/>
            <a:ext cx="54864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00800" y="4120095"/>
            <a:ext cx="91440" cy="694944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65392" y="4165815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91C1C"/>
                </a:solidFill>
              </a:rPr>
              <a:t>Marker Sizing</a:t>
            </a:r>
            <a:endParaRPr lang="en-US" sz="1400" dirty="0">
              <a:solidFill>
                <a:srgbClr val="B91C1C"/>
              </a:solidFill>
            </a:endParaRPr>
          </a:p>
        </p:txBody>
      </p:sp>
      <p:sp>
        <p:nvSpPr>
          <p:cNvPr id="47" name="Text 45"/>
          <p:cNvSpPr/>
          <p:nvPr/>
        </p:nvSpPr>
        <p:spPr>
          <a:xfrm>
            <a:off x="6565392" y="4485855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Circle radius scales with avg AQI value too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400800" y="4924767"/>
            <a:ext cx="54864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400800" y="4924767"/>
            <a:ext cx="91440" cy="694944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65392" y="4970487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A2240"/>
                </a:solidFill>
              </a:rPr>
              <a:t>Embedded in Dashboard</a:t>
            </a:r>
          </a:p>
        </p:txBody>
      </p:sp>
      <p:sp>
        <p:nvSpPr>
          <p:cNvPr id="51" name="Text 49"/>
          <p:cNvSpPr/>
          <p:nvPr/>
        </p:nvSpPr>
        <p:spPr>
          <a:xfrm>
            <a:off x="6565392" y="5290527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Map View tab renders it live via components.html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292608" y="6291072"/>
            <a:ext cx="11612880" cy="438912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92608" y="6291072"/>
            <a:ext cx="11612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B8952A"/>
                </a:solidFill>
              </a:rPr>
              <a:t>Run: streamlit run dashboard/app.py  ·  Maps in: outputs/maps/  ·  github.com/vjnitin312/da379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961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FFFFF"/>
                </a:solidFill>
              </a:rPr>
              <a:t>Results &amp; Outputs — Overview</a:t>
            </a:r>
          </a:p>
        </p:txBody>
      </p:sp>
      <p:sp>
        <p:nvSpPr>
          <p:cNvPr id="6" name="Text 4"/>
          <p:cNvSpPr/>
          <p:nvPr/>
        </p:nvSpPr>
        <p:spPr>
          <a:xfrm>
            <a:off x="9921240" y="219456"/>
            <a:ext cx="2057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240"/>
                </a:solidFill>
              </a:rPr>
              <a:t>5:00 – 7:30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" y="1024128"/>
            <a:ext cx="2834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92608" y="1024128"/>
            <a:ext cx="2834640" cy="64008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1133856"/>
            <a:ext cx="2834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05A2B"/>
                </a:solidFill>
              </a:rPr>
              <a:t>392.6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92608" y="1671523"/>
            <a:ext cx="2834640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</a:rPr>
              <a:t>Ahmedabad · most polluted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191256" y="1024128"/>
            <a:ext cx="2834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91256" y="1024128"/>
            <a:ext cx="28346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91256" y="1133856"/>
            <a:ext cx="2834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</a:rPr>
              <a:t>34.8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191256" y="1671523"/>
            <a:ext cx="2834640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</a:rPr>
              <a:t>Aizawl · least polluted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89904" y="1024128"/>
            <a:ext cx="2834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9904" y="1024128"/>
            <a:ext cx="2834640" cy="64008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9904" y="1133856"/>
            <a:ext cx="2834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A2240"/>
                </a:solidFill>
              </a:rPr>
              <a:t>29,530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089904" y="1671523"/>
            <a:ext cx="2834640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</a:rPr>
              <a:t>Daily records collected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988552" y="1024128"/>
            <a:ext cx="2834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988552" y="1024128"/>
            <a:ext cx="2834640" cy="64008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88552" y="1133856"/>
            <a:ext cx="2834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8952A"/>
                </a:solidFill>
              </a:rPr>
              <a:t>5.5 years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8988552" y="1671523"/>
            <a:ext cx="2834640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</a:rPr>
              <a:t>2015 – 2020 coverage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24688" y="224028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A2240"/>
                </a:solidFill>
              </a:rPr>
              <a:t>Top &amp; Bottom 10 Cities by Avg AQI</a:t>
            </a:r>
            <a:endParaRPr lang="en-US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606040"/>
            <a:ext cx="5852160" cy="2944368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432040" y="224028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240"/>
                </a:solidFill>
              </a:rPr>
              <a:t>Seasonal Pattern — Avg AQI by Month</a:t>
            </a:r>
            <a:endParaRPr lang="en-US" dirty="0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2606040"/>
            <a:ext cx="5577840" cy="2944368"/>
          </a:xfrm>
          <a:prstGeom prst="rect">
            <a:avLst/>
          </a:prstGeom>
        </p:spPr>
      </p:pic>
      <p:sp>
        <p:nvSpPr>
          <p:cNvPr id="28" name="Shape 24"/>
          <p:cNvSpPr/>
          <p:nvPr/>
        </p:nvSpPr>
        <p:spPr>
          <a:xfrm>
            <a:off x="292608" y="5687568"/>
            <a:ext cx="11612880" cy="86868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75488" y="5724144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8952A"/>
                </a:solidFill>
              </a:rPr>
              <a:t>Key insight: </a:t>
            </a:r>
            <a:r>
              <a:rPr lang="en-US" sz="1600" dirty="0">
                <a:solidFill>
                  <a:srgbClr val="CBD5E1"/>
                </a:solidFill>
              </a:rPr>
              <a:t>November peaks at </a:t>
            </a:r>
            <a:r>
              <a:rPr lang="en-US" sz="1600" b="1" dirty="0">
                <a:solidFill>
                  <a:srgbClr val="B8952A"/>
                </a:solidFill>
              </a:rPr>
              <a:t>234.9 AQI</a:t>
            </a:r>
            <a:r>
              <a:rPr lang="en-US" sz="1600" dirty="0">
                <a:solidFill>
                  <a:srgbClr val="CBD5E1"/>
                </a:solidFill>
              </a:rPr>
              <a:t> due to winter temperature inversion trapping pollutants near the surface. August is lowest at </a:t>
            </a:r>
            <a:r>
              <a:rPr lang="en-US" sz="1600" b="1" dirty="0">
                <a:solidFill>
                  <a:srgbClr val="B8952A"/>
                </a:solidFill>
              </a:rPr>
              <a:t>110.0 AQI</a:t>
            </a:r>
            <a:r>
              <a:rPr lang="en-US" sz="1600" dirty="0">
                <a:solidFill>
                  <a:srgbClr val="CBD5E1"/>
                </a:solidFill>
              </a:rPr>
              <a:t> due to monsoon rains washing pollutants from the air.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961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FFFFF"/>
                </a:solidFill>
              </a:rPr>
              <a:t>Results &amp; Outputs — Statistical Analysis</a:t>
            </a:r>
          </a:p>
        </p:txBody>
      </p:sp>
      <p:sp>
        <p:nvSpPr>
          <p:cNvPr id="6" name="Text 4"/>
          <p:cNvSpPr/>
          <p:nvPr/>
        </p:nvSpPr>
        <p:spPr>
          <a:xfrm>
            <a:off x="9921240" y="219456"/>
            <a:ext cx="2057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240"/>
                </a:solidFill>
              </a:rPr>
              <a:t>5:00 – 7:30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293178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240"/>
                </a:solidFill>
              </a:rPr>
              <a:t>Pearson Correlation Matrix</a:t>
            </a:r>
            <a:endParaRPr lang="en-US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1" y="1781987"/>
            <a:ext cx="5782305" cy="485655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89320" y="1024128"/>
            <a:ext cx="5897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240"/>
                </a:solidFill>
              </a:rPr>
              <a:t>Top correlations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CF35409-F964-3491-ED3C-E45751D9613D}"/>
              </a:ext>
            </a:extLst>
          </p:cNvPr>
          <p:cNvGrpSpPr/>
          <p:nvPr/>
        </p:nvGrpSpPr>
        <p:grpSpPr>
          <a:xfrm>
            <a:off x="5989319" y="1426465"/>
            <a:ext cx="6080513" cy="2199028"/>
            <a:chOff x="5989320" y="1426464"/>
            <a:chExt cx="5993892" cy="2495957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3E5AD87F-9432-1886-909C-D068F7B236F1}"/>
                </a:ext>
              </a:extLst>
            </p:cNvPr>
            <p:cNvGrpSpPr/>
            <p:nvPr/>
          </p:nvGrpSpPr>
          <p:grpSpPr>
            <a:xfrm>
              <a:off x="5989320" y="1426464"/>
              <a:ext cx="5989320" cy="722376"/>
              <a:chOff x="5989320" y="1426464"/>
              <a:chExt cx="5897880" cy="1078992"/>
            </a:xfrm>
          </p:grpSpPr>
          <p:sp>
            <p:nvSpPr>
              <p:cNvPr id="11" name="Shape 8"/>
              <p:cNvSpPr/>
              <p:nvPr/>
            </p:nvSpPr>
            <p:spPr>
              <a:xfrm>
                <a:off x="5989320" y="1426464"/>
                <a:ext cx="5897880" cy="1078992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2E8F0"/>
                </a:solidFill>
                <a:prstDash val="solid"/>
              </a:ln>
              <a:effectLst>
                <a:outerShdw blurRad="101600" dist="25400" dir="8100000" algn="bl" rotWithShape="0">
                  <a:srgbClr val="000000">
                    <a:alpha val="8000"/>
                  </a:srgbClr>
                </a:outerShdw>
              </a:effectLst>
            </p:spPr>
          </p:sp>
          <p:sp>
            <p:nvSpPr>
              <p:cNvPr id="12" name="Shape 9"/>
              <p:cNvSpPr/>
              <p:nvPr/>
            </p:nvSpPr>
            <p:spPr>
              <a:xfrm>
                <a:off x="5989320" y="1426464"/>
                <a:ext cx="5897880" cy="64008"/>
              </a:xfrm>
              <a:prstGeom prst="rect">
                <a:avLst/>
              </a:prstGeom>
              <a:solidFill>
                <a:srgbClr val="E05A2B"/>
              </a:solidFill>
              <a:ln w="12700">
                <a:solidFill>
                  <a:srgbClr val="E05A2B"/>
                </a:solidFill>
                <a:prstDash val="solid"/>
              </a:ln>
            </p:spPr>
          </p:sp>
          <p:sp>
            <p:nvSpPr>
              <p:cNvPr id="13" name="Text 10"/>
              <p:cNvSpPr/>
              <p:nvPr/>
            </p:nvSpPr>
            <p:spPr>
              <a:xfrm>
                <a:off x="6144768" y="1536192"/>
                <a:ext cx="109728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2200" b="1" dirty="0">
                    <a:solidFill>
                      <a:srgbClr val="E05A2B"/>
                    </a:solidFill>
                  </a:rPr>
                  <a:t>+0.67</a:t>
                </a:r>
                <a:endParaRPr lang="en-US" sz="2200" dirty="0"/>
              </a:p>
            </p:txBody>
          </p:sp>
          <p:sp>
            <p:nvSpPr>
              <p:cNvPr id="14" name="Text 11"/>
              <p:cNvSpPr/>
              <p:nvPr/>
            </p:nvSpPr>
            <p:spPr>
              <a:xfrm>
                <a:off x="7333488" y="1536192"/>
                <a:ext cx="438912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400" b="1" dirty="0">
                    <a:solidFill>
                      <a:srgbClr val="E05A2B"/>
                    </a:solidFill>
                  </a:rPr>
                  <a:t>CO  ↔  AQI</a:t>
                </a:r>
              </a:p>
            </p:txBody>
          </p:sp>
          <p:sp>
            <p:nvSpPr>
              <p:cNvPr id="15" name="Text 12"/>
              <p:cNvSpPr/>
              <p:nvPr/>
            </p:nvSpPr>
            <p:spPr>
              <a:xfrm>
                <a:off x="6144768" y="2084832"/>
                <a:ext cx="5577840" cy="34747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dirty="0">
                    <a:solidFill>
                      <a:srgbClr val="64748B"/>
                    </a:solidFill>
                  </a:rPr>
                  <a:t>Strongest correlate: combustion-related CO tracks AQI closely.</a:t>
                </a:r>
                <a:endParaRPr lang="en-US" sz="1200" dirty="0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5CBE90F1-B29C-9828-6D20-30CD7E325BFB}"/>
                </a:ext>
              </a:extLst>
            </p:cNvPr>
            <p:cNvGrpSpPr/>
            <p:nvPr/>
          </p:nvGrpSpPr>
          <p:grpSpPr>
            <a:xfrm>
              <a:off x="5989320" y="2240601"/>
              <a:ext cx="5993892" cy="795528"/>
              <a:chOff x="5989320" y="2633472"/>
              <a:chExt cx="5897880" cy="1078992"/>
            </a:xfrm>
          </p:grpSpPr>
          <p:sp>
            <p:nvSpPr>
              <p:cNvPr id="16" name="Shape 13"/>
              <p:cNvSpPr/>
              <p:nvPr/>
            </p:nvSpPr>
            <p:spPr>
              <a:xfrm>
                <a:off x="5989320" y="2633472"/>
                <a:ext cx="5897880" cy="1078992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2E8F0"/>
                </a:solidFill>
                <a:prstDash val="solid"/>
              </a:ln>
              <a:effectLst>
                <a:outerShdw blurRad="101600" dist="25400" dir="8100000" algn="bl" rotWithShape="0">
                  <a:srgbClr val="000000">
                    <a:alpha val="8000"/>
                  </a:srgbClr>
                </a:outerShdw>
              </a:effectLst>
            </p:spPr>
          </p:sp>
          <p:sp>
            <p:nvSpPr>
              <p:cNvPr id="17" name="Shape 14"/>
              <p:cNvSpPr/>
              <p:nvPr/>
            </p:nvSpPr>
            <p:spPr>
              <a:xfrm>
                <a:off x="5989320" y="2633472"/>
                <a:ext cx="5897880" cy="64008"/>
              </a:xfrm>
              <a:prstGeom prst="rect">
                <a:avLst/>
              </a:prstGeom>
              <a:solidFill>
                <a:srgbClr val="0D9488"/>
              </a:solidFill>
              <a:ln w="12700">
                <a:solidFill>
                  <a:srgbClr val="0D9488"/>
                </a:solidFill>
                <a:prstDash val="solid"/>
              </a:ln>
            </p:spPr>
          </p:sp>
          <p:sp>
            <p:nvSpPr>
              <p:cNvPr id="18" name="Text 15"/>
              <p:cNvSpPr/>
              <p:nvPr/>
            </p:nvSpPr>
            <p:spPr>
              <a:xfrm>
                <a:off x="6144768" y="2743200"/>
                <a:ext cx="109728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2200" b="1" dirty="0">
                    <a:solidFill>
                      <a:srgbClr val="0D9488"/>
                    </a:solidFill>
                  </a:rPr>
                  <a:t>+0.66</a:t>
                </a:r>
                <a:endParaRPr lang="en-US" sz="2200" dirty="0"/>
              </a:p>
            </p:txBody>
          </p:sp>
          <p:sp>
            <p:nvSpPr>
              <p:cNvPr id="19" name="Text 16"/>
              <p:cNvSpPr/>
              <p:nvPr/>
            </p:nvSpPr>
            <p:spPr>
              <a:xfrm>
                <a:off x="7333488" y="2743200"/>
                <a:ext cx="438912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400" b="1" dirty="0">
                    <a:solidFill>
                      <a:srgbClr val="0D9488"/>
                    </a:solidFill>
                  </a:rPr>
                  <a:t>PM2.5  ↔  AQI</a:t>
                </a:r>
              </a:p>
            </p:txBody>
          </p:sp>
          <p:sp>
            <p:nvSpPr>
              <p:cNvPr id="20" name="Text 17"/>
              <p:cNvSpPr/>
              <p:nvPr/>
            </p:nvSpPr>
            <p:spPr>
              <a:xfrm>
                <a:off x="6144768" y="3291840"/>
                <a:ext cx="5577840" cy="34747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dirty="0">
                    <a:solidFill>
                      <a:srgbClr val="64748B"/>
                    </a:solidFill>
                  </a:rPr>
                  <a:t>Fine particulates are a primary driver of poor air quality.</a:t>
                </a:r>
                <a:endParaRPr lang="en-US" sz="1200" dirty="0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D68B1B4D-3894-EAE6-4AA9-3CC832A1F1B4}"/>
                </a:ext>
              </a:extLst>
            </p:cNvPr>
            <p:cNvGrpSpPr/>
            <p:nvPr/>
          </p:nvGrpSpPr>
          <p:grpSpPr>
            <a:xfrm>
              <a:off x="5989320" y="3132989"/>
              <a:ext cx="5993892" cy="789432"/>
              <a:chOff x="5989320" y="3840480"/>
              <a:chExt cx="5897880" cy="1078992"/>
            </a:xfrm>
          </p:grpSpPr>
          <p:sp>
            <p:nvSpPr>
              <p:cNvPr id="21" name="Shape 18"/>
              <p:cNvSpPr/>
              <p:nvPr/>
            </p:nvSpPr>
            <p:spPr>
              <a:xfrm>
                <a:off x="5989320" y="3840480"/>
                <a:ext cx="5897880" cy="1078992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2E8F0"/>
                </a:solidFill>
                <a:prstDash val="solid"/>
              </a:ln>
              <a:effectLst>
                <a:outerShdw blurRad="101600" dist="25400" dir="8100000" algn="bl" rotWithShape="0">
                  <a:srgbClr val="000000">
                    <a:alpha val="8000"/>
                  </a:srgbClr>
                </a:outerShdw>
              </a:effectLst>
            </p:spPr>
          </p:sp>
          <p:sp>
            <p:nvSpPr>
              <p:cNvPr id="22" name="Shape 19"/>
              <p:cNvSpPr/>
              <p:nvPr/>
            </p:nvSpPr>
            <p:spPr>
              <a:xfrm>
                <a:off x="5989320" y="3840480"/>
                <a:ext cx="5897880" cy="64008"/>
              </a:xfrm>
              <a:prstGeom prst="rect">
                <a:avLst/>
              </a:prstGeom>
              <a:solidFill>
                <a:srgbClr val="B8952A"/>
              </a:solidFill>
              <a:ln w="12700">
                <a:solidFill>
                  <a:srgbClr val="B8952A"/>
                </a:solidFill>
                <a:prstDash val="solid"/>
              </a:ln>
            </p:spPr>
          </p:sp>
          <p:sp>
            <p:nvSpPr>
              <p:cNvPr id="23" name="Text 20"/>
              <p:cNvSpPr/>
              <p:nvPr/>
            </p:nvSpPr>
            <p:spPr>
              <a:xfrm>
                <a:off x="6144768" y="3950208"/>
                <a:ext cx="109728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2200" b="1" dirty="0">
                    <a:solidFill>
                      <a:srgbClr val="B8952A"/>
                    </a:solidFill>
                  </a:rPr>
                  <a:t>+0.53</a:t>
                </a:r>
                <a:endParaRPr lang="en-US" sz="2200" dirty="0"/>
              </a:p>
            </p:txBody>
          </p:sp>
          <p:sp>
            <p:nvSpPr>
              <p:cNvPr id="24" name="Text 21"/>
              <p:cNvSpPr/>
              <p:nvPr/>
            </p:nvSpPr>
            <p:spPr>
              <a:xfrm>
                <a:off x="7333488" y="3950208"/>
                <a:ext cx="438912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400" b="1" dirty="0">
                    <a:solidFill>
                      <a:srgbClr val="B8952A"/>
                    </a:solidFill>
                  </a:rPr>
                  <a:t>NO2  ↔  AQI</a:t>
                </a:r>
              </a:p>
            </p:txBody>
          </p:sp>
          <p:sp>
            <p:nvSpPr>
              <p:cNvPr id="25" name="Text 22"/>
              <p:cNvSpPr/>
              <p:nvPr/>
            </p:nvSpPr>
            <p:spPr>
              <a:xfrm>
                <a:off x="6144768" y="4498848"/>
                <a:ext cx="5577840" cy="34747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dirty="0">
                    <a:solidFill>
                      <a:srgbClr val="64748B"/>
                    </a:solidFill>
                  </a:rPr>
                  <a:t>Vehicular/industrial emissions tracer, third-strongest signal.</a:t>
                </a:r>
                <a:endParaRPr lang="en-US" sz="1200" dirty="0"/>
              </a:p>
            </p:txBody>
          </p:sp>
        </p:grp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7D386C0-1C0E-C66D-7E57-A7298BE40FE2}"/>
              </a:ext>
            </a:extLst>
          </p:cNvPr>
          <p:cNvGrpSpPr/>
          <p:nvPr/>
        </p:nvGrpSpPr>
        <p:grpSpPr>
          <a:xfrm>
            <a:off x="5989320" y="3741366"/>
            <a:ext cx="6038088" cy="2897180"/>
            <a:chOff x="5989320" y="5092733"/>
            <a:chExt cx="5897880" cy="1372075"/>
          </a:xfrm>
        </p:grpSpPr>
        <p:sp>
          <p:nvSpPr>
            <p:cNvPr id="26" name="Text 23"/>
            <p:cNvSpPr/>
            <p:nvPr/>
          </p:nvSpPr>
          <p:spPr>
            <a:xfrm>
              <a:off x="5989320" y="5092733"/>
              <a:ext cx="5897880" cy="13378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0A2240"/>
                  </a:solidFill>
                </a:rPr>
                <a:t>National Average AQI Trend (2015–2020)</a:t>
              </a:r>
              <a:endParaRPr lang="en-US" dirty="0"/>
            </a:p>
          </p:txBody>
        </p:sp>
        <p:pic>
          <p:nvPicPr>
            <p:cNvPr id="27" name="Image 1" descr="preencoded.png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5989320" y="5271802"/>
              <a:ext cx="5897880" cy="119300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961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FFFFF"/>
                </a:solidFill>
              </a:rPr>
              <a:t>Evaluation Metrics — What the Numbers Mean</a:t>
            </a:r>
          </a:p>
        </p:txBody>
      </p:sp>
      <p:sp>
        <p:nvSpPr>
          <p:cNvPr id="6" name="Text 4"/>
          <p:cNvSpPr/>
          <p:nvPr/>
        </p:nvSpPr>
        <p:spPr>
          <a:xfrm>
            <a:off x="9921240" y="219456"/>
            <a:ext cx="2057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240"/>
                </a:solidFill>
              </a:rPr>
              <a:t>7:30 – 9:00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24128"/>
            <a:ext cx="1143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</a:rPr>
              <a:t>R2 &amp; MAE · Accuracy &amp; F1 · Confusion matrix · Holt-Winters forecast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92608" y="144475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240"/>
                </a:solidFill>
              </a:rPr>
              <a:t>Model Comparison — Regression &amp; Classification</a:t>
            </a:r>
            <a:endParaRPr lang="en-US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801368"/>
            <a:ext cx="5852160" cy="239572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92608" y="431596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240"/>
                </a:solidFill>
              </a:rPr>
              <a:t>Confusion Matrix — AQI Category (Random Forest)</a:t>
            </a:r>
            <a:endParaRPr lang="en-US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4663440"/>
            <a:ext cx="5852160" cy="18470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92240" y="1444752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240"/>
                </a:solidFill>
              </a:rPr>
              <a:t>How to interpret</a:t>
            </a:r>
            <a:endParaRPr lang="en-US" dirty="0"/>
          </a:p>
        </p:txBody>
      </p:sp>
      <p:sp>
        <p:nvSpPr>
          <p:cNvPr id="14" name="Shape 10"/>
          <p:cNvSpPr/>
          <p:nvPr/>
        </p:nvSpPr>
        <p:spPr>
          <a:xfrm>
            <a:off x="6492240" y="1847088"/>
            <a:ext cx="53949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92240" y="1847088"/>
            <a:ext cx="53949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656832" y="195681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9488"/>
                </a:solidFill>
              </a:rPr>
              <a:t>0.925</a:t>
            </a: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8119872" y="1987296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D9488"/>
                </a:solidFill>
              </a:rPr>
              <a:t>Random Forest R2 Score</a:t>
            </a:r>
          </a:p>
        </p:txBody>
      </p:sp>
      <p:sp>
        <p:nvSpPr>
          <p:cNvPr id="18" name="Text 14"/>
          <p:cNvSpPr/>
          <p:nvPr/>
        </p:nvSpPr>
        <p:spPr>
          <a:xfrm>
            <a:off x="6656832" y="2420112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64748B"/>
                </a:solidFill>
              </a:rPr>
              <a:t>Best of 3 regression models. Linear Regression scored 0.897, Decision Tree scored 0.865 — ensemble averaging wins.</a:t>
            </a:r>
          </a:p>
        </p:txBody>
      </p:sp>
      <p:sp>
        <p:nvSpPr>
          <p:cNvPr id="19" name="Shape 15"/>
          <p:cNvSpPr/>
          <p:nvPr/>
        </p:nvSpPr>
        <p:spPr>
          <a:xfrm>
            <a:off x="6492240" y="3035808"/>
            <a:ext cx="53949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92240" y="3035808"/>
            <a:ext cx="5394960" cy="64008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656832" y="314553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05A2B"/>
                </a:solidFill>
              </a:rPr>
              <a:t>16.33</a:t>
            </a: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8119872" y="3176016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E05A2B"/>
                </a:solidFill>
              </a:rPr>
              <a:t>Mean Absolute Error (MAE)</a:t>
            </a:r>
          </a:p>
        </p:txBody>
      </p:sp>
      <p:sp>
        <p:nvSpPr>
          <p:cNvPr id="23" name="Text 19"/>
          <p:cNvSpPr/>
          <p:nvPr/>
        </p:nvSpPr>
        <p:spPr>
          <a:xfrm>
            <a:off x="6656832" y="3608832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64748B"/>
                </a:solidFill>
              </a:rPr>
              <a:t>Predictions off by ~16 AQI points on average. RMSE is higher (35.37), meaning a few large misses pull the squared error up.</a:t>
            </a:r>
          </a:p>
        </p:txBody>
      </p:sp>
      <p:sp>
        <p:nvSpPr>
          <p:cNvPr id="24" name="Shape 20"/>
          <p:cNvSpPr/>
          <p:nvPr/>
        </p:nvSpPr>
        <p:spPr>
          <a:xfrm>
            <a:off x="6492240" y="4224528"/>
            <a:ext cx="53949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492240" y="4224528"/>
            <a:ext cx="5394960" cy="64008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656832" y="43342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8952A"/>
                </a:solidFill>
              </a:rPr>
              <a:t>83.8%</a:t>
            </a: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8119872" y="4364736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B8952A"/>
                </a:solidFill>
              </a:rPr>
              <a:t>Classification Accuracy (F1 0.837)</a:t>
            </a:r>
          </a:p>
        </p:txBody>
      </p:sp>
      <p:sp>
        <p:nvSpPr>
          <p:cNvPr id="28" name="Text 24"/>
          <p:cNvSpPr/>
          <p:nvPr/>
        </p:nvSpPr>
        <p:spPr>
          <a:xfrm>
            <a:off x="6656832" y="4797552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64748B"/>
                </a:solidFill>
              </a:rPr>
              <a:t>Random Forest correctly bucketed 5 of 6 test rows into Good–Severe (vs. 79.7% for Logistic Regression).</a:t>
            </a:r>
          </a:p>
        </p:txBody>
      </p:sp>
      <p:sp>
        <p:nvSpPr>
          <p:cNvPr id="29" name="Shape 25"/>
          <p:cNvSpPr/>
          <p:nvPr/>
        </p:nvSpPr>
        <p:spPr>
          <a:xfrm>
            <a:off x="6492240" y="5413248"/>
            <a:ext cx="53949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6492240" y="5413248"/>
            <a:ext cx="5394960" cy="64008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656832" y="552297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240"/>
                </a:solidFill>
              </a:rPr>
              <a:t>6 months</a:t>
            </a:r>
            <a:endParaRPr lang="en-US" dirty="0"/>
          </a:p>
        </p:txBody>
      </p:sp>
      <p:sp>
        <p:nvSpPr>
          <p:cNvPr id="32" name="Text 28"/>
          <p:cNvSpPr/>
          <p:nvPr/>
        </p:nvSpPr>
        <p:spPr>
          <a:xfrm>
            <a:off x="8119872" y="5553456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A2240"/>
                </a:solidFill>
              </a:rPr>
              <a:t>Holt-Winters Forecast Horizon</a:t>
            </a:r>
          </a:p>
        </p:txBody>
      </p:sp>
      <p:sp>
        <p:nvSpPr>
          <p:cNvPr id="33" name="Text 29"/>
          <p:cNvSpPr/>
          <p:nvPr/>
        </p:nvSpPr>
        <p:spPr>
          <a:xfrm>
            <a:off x="6656832" y="5986272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64748B"/>
                </a:solidFill>
              </a:rPr>
              <a:t>Ahmedabad November forecast: 366.3 AQI, correctly capturing the winter peak. Only cities with &gt;=24 months history are decomposed.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952A"/>
                </a:solidFill>
              </a:rPr>
              <a:t>Wrap Up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FFFFF"/>
                </a:solidFill>
              </a:rPr>
              <a:t>Summary · Key Learnings · Future Scope</a:t>
            </a:r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B8952A"/>
                </a:solidFill>
              </a:rPr>
              <a:t>3 Scientific Conclusions</a:t>
            </a:r>
          </a:p>
        </p:txBody>
      </p:sp>
      <p:sp>
        <p:nvSpPr>
          <p:cNvPr id="7" name="Shape 5"/>
          <p:cNvSpPr/>
          <p:nvPr/>
        </p:nvSpPr>
        <p:spPr>
          <a:xfrm>
            <a:off x="457200" y="184708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47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240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9264" y="1847088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</a:rPr>
              <a:t>Combustion-related pollutants (CO, PM2.5) are the dominant drivers of AQI, not secondary pollutants like ozone.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62432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24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240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9264" y="2624328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</a:rPr>
              <a:t>A strong, recurring winter pollution peak driven by temperature inversion is detectable nationwide across all 5 years.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40156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401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240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9264" y="3401568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</a:rPr>
              <a:t>Ensemble tree-based models (Random Forest) substantially outperform linear baselines for both regression and classification.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43159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B8952A"/>
                </a:solidFill>
              </a:rPr>
              <a:t>Future Scope</a:t>
            </a:r>
          </a:p>
        </p:txBody>
      </p:sp>
      <p:sp>
        <p:nvSpPr>
          <p:cNvPr id="17" name="Shape 15"/>
          <p:cNvSpPr/>
          <p:nvPr/>
        </p:nvSpPr>
        <p:spPr>
          <a:xfrm>
            <a:off x="457200" y="4754880"/>
            <a:ext cx="310896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754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→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9536" y="4714240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Real-time CPCB station APIs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59536" y="492455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for live inspection beyond the 2015-2020 window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09360" y="4754880"/>
            <a:ext cx="310896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4754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→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11696" y="4714240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Meteorological covariates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711696" y="492455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temperature, wind, humidity as exogenous regressors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5468112"/>
            <a:ext cx="310896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5468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→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59536" y="542747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Deploy on Streamlit Cloud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59536" y="5637784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public access — no local installation required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09360" y="5468112"/>
            <a:ext cx="310896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5468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→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711696" y="542747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Station-level spatial modelling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711696" y="5637784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finer-grained resolution within large metro areas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6220166"/>
            <a:ext cx="11247120" cy="475488"/>
          </a:xfrm>
          <a:prstGeom prst="roundRect">
            <a:avLst>
              <a:gd name="adj" fmla="val 19231"/>
            </a:avLst>
          </a:prstGeom>
          <a:solidFill>
            <a:srgbClr val="B8952A"/>
          </a:solidFill>
          <a:ln w="12700">
            <a:solidFill>
              <a:srgbClr val="B895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6220166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240"/>
                </a:solidFill>
              </a:rPr>
              <a:t>github.com/vjnitin312/da379   ·   n.nitin@op.iitg.ac.in   ·   Nitin Vijay N  |  23035010571  |  DA379  |  Trimester 9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1141</Words>
  <Application>Microsoft Office PowerPoint</Application>
  <PresentationFormat>Widescreen</PresentationFormat>
  <Paragraphs>199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IndiaClimate</dc:title>
  <dc:subject>PptxGenJS Presentation</dc:subject>
  <dc:creator>Nitin Vijay N</dc:creator>
  <cp:lastModifiedBy>Nitin Vijay N</cp:lastModifiedBy>
  <cp:revision>9</cp:revision>
  <dcterms:created xsi:type="dcterms:W3CDTF">2026-04-20T13:13:05Z</dcterms:created>
  <dcterms:modified xsi:type="dcterms:W3CDTF">2026-07-24T13:24:21Z</dcterms:modified>
</cp:coreProperties>
</file>